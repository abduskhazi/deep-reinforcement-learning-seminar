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3" r:id="rId1"/>
  </p:sldMasterIdLst>
  <p:notesMasterIdLst>
    <p:notesMasterId r:id="rId23"/>
  </p:notesMasterIdLst>
  <p:handoutMasterIdLst>
    <p:handoutMasterId r:id="rId24"/>
  </p:handoutMasterIdLst>
  <p:sldIdLst>
    <p:sldId id="789" r:id="rId2"/>
    <p:sldId id="793" r:id="rId3"/>
    <p:sldId id="790" r:id="rId4"/>
    <p:sldId id="709" r:id="rId5"/>
    <p:sldId id="638" r:id="rId6"/>
    <p:sldId id="791" r:id="rId7"/>
    <p:sldId id="794" r:id="rId8"/>
    <p:sldId id="796" r:id="rId9"/>
    <p:sldId id="795" r:id="rId10"/>
    <p:sldId id="798" r:id="rId11"/>
    <p:sldId id="807" r:id="rId12"/>
    <p:sldId id="799" r:id="rId13"/>
    <p:sldId id="800" r:id="rId14"/>
    <p:sldId id="804" r:id="rId15"/>
    <p:sldId id="727" r:id="rId16"/>
    <p:sldId id="805" r:id="rId17"/>
    <p:sldId id="806" r:id="rId18"/>
    <p:sldId id="792" r:id="rId19"/>
    <p:sldId id="802" r:id="rId20"/>
    <p:sldId id="803" r:id="rId21"/>
    <p:sldId id="797" r:id="rId22"/>
  </p:sldIdLst>
  <p:sldSz cx="9144000" cy="5143500" type="screen16x9"/>
  <p:notesSz cx="10234613" cy="7099300"/>
  <p:custDataLst>
    <p:tags r:id="rId25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A0000"/>
    <a:srgbClr val="336699"/>
    <a:srgbClr val="99FFCC"/>
    <a:srgbClr val="CCFF99"/>
    <a:srgbClr val="FFFFFF"/>
    <a:srgbClr val="E8DD00"/>
    <a:srgbClr val="FFF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86" autoAdjust="0"/>
    <p:restoredTop sz="79389" autoAdjust="0"/>
  </p:normalViewPr>
  <p:slideViewPr>
    <p:cSldViewPr>
      <p:cViewPr varScale="1">
        <p:scale>
          <a:sx n="115" d="100"/>
          <a:sy n="115" d="100"/>
        </p:scale>
        <p:origin x="91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30"/>
    </p:cViewPr>
  </p:sorterViewPr>
  <p:notesViewPr>
    <p:cSldViewPr snapToGrid="0" snapToObjects="1">
      <p:cViewPr varScale="1">
        <p:scale>
          <a:sx n="86" d="100"/>
          <a:sy n="86" d="100"/>
        </p:scale>
        <p:origin x="-1843" y="-77"/>
      </p:cViewPr>
      <p:guideLst>
        <p:guide orient="horz" pos="2236"/>
        <p:guide pos="32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5304" cy="3545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023" y="0"/>
            <a:ext cx="4435304" cy="35458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DBEC1-03D6-8C41-96E3-520E1D7FD629}" type="datetimeFigureOut">
              <a:rPr lang="en-US" smtClean="0"/>
              <a:t>7/14/21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743619"/>
            <a:ext cx="4435304" cy="3545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023" y="6743619"/>
            <a:ext cx="4435304" cy="3545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A035C-FB08-0242-AF90-D9F53D6B6D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57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0" hangingPunct="0">
              <a:defRPr sz="1300" b="1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9311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0" hangingPunct="0">
              <a:defRPr sz="1300" b="1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516188" y="409575"/>
            <a:ext cx="5202237" cy="2927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59164" y="3445645"/>
            <a:ext cx="8116288" cy="3120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Klicken Sie, um die Formate des Vorlagentextes zu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744721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0" hangingPunct="0">
              <a:defRPr sz="1300" b="1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9311" y="6744721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0" hangingPunct="0">
              <a:defRPr sz="1300" b="1">
                <a:latin typeface="Times New Roman" charset="0"/>
                <a:cs typeface="+mn-cs"/>
              </a:defRPr>
            </a:lvl1pPr>
          </a:lstStyle>
          <a:p>
            <a:pPr>
              <a:defRPr/>
            </a:pPr>
            <a:fld id="{2D72F1E3-2578-1242-A6A3-72B7E9BB2E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87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85750" indent="-285750" algn="l" rtl="0" eaLnBrk="0" fontAlgn="base" hangingPunct="0">
      <a:spcBef>
        <a:spcPct val="30000"/>
      </a:spcBef>
      <a:spcAft>
        <a:spcPct val="0"/>
      </a:spcAft>
      <a:buClr>
        <a:srgbClr val="800000"/>
      </a:buClr>
      <a:buFont typeface="Wingdings" charset="2"/>
      <a:buChar char="§"/>
      <a:defRPr sz="1400" kern="1200">
        <a:solidFill>
          <a:schemeClr val="tx1"/>
        </a:solidFill>
        <a:latin typeface="Verdana"/>
        <a:ea typeface="ＭＳ Ｐゴシック" charset="0"/>
        <a:cs typeface="Verdana"/>
      </a:defRPr>
    </a:lvl1pPr>
    <a:lvl2pPr marL="615950" indent="-285750" algn="l" rtl="0" eaLnBrk="0" fontAlgn="base" hangingPunct="0">
      <a:spcBef>
        <a:spcPct val="30000"/>
      </a:spcBef>
      <a:spcAft>
        <a:spcPct val="0"/>
      </a:spcAft>
      <a:buClr>
        <a:srgbClr val="800000"/>
      </a:buClr>
      <a:buFont typeface="Wingdings" charset="2"/>
      <a:buChar char="§"/>
      <a:defRPr sz="1400" kern="1200">
        <a:solidFill>
          <a:schemeClr val="tx1"/>
        </a:solidFill>
        <a:latin typeface="Verdana"/>
        <a:ea typeface="ＭＳ Ｐゴシック" charset="0"/>
        <a:cs typeface="Verdana"/>
      </a:defRPr>
    </a:lvl2pPr>
    <a:lvl3pPr marL="903288" indent="-285750" algn="l" rtl="0" eaLnBrk="0" fontAlgn="base" hangingPunct="0">
      <a:spcBef>
        <a:spcPct val="30000"/>
      </a:spcBef>
      <a:spcAft>
        <a:spcPct val="0"/>
      </a:spcAft>
      <a:buClr>
        <a:srgbClr val="800000"/>
      </a:buClr>
      <a:buFont typeface="Wingdings" charset="2"/>
      <a:buChar char="§"/>
      <a:defRPr sz="1400" kern="1200">
        <a:solidFill>
          <a:schemeClr val="tx1"/>
        </a:solidFill>
        <a:latin typeface="Verdana"/>
        <a:ea typeface="ＭＳ Ｐゴシック" charset="0"/>
        <a:cs typeface="Verdana"/>
      </a:defRPr>
    </a:lvl3pPr>
    <a:lvl4pPr marL="1262063" indent="-285750" algn="l" rtl="0" eaLnBrk="0" fontAlgn="base" hangingPunct="0">
      <a:spcBef>
        <a:spcPct val="30000"/>
      </a:spcBef>
      <a:spcAft>
        <a:spcPct val="0"/>
      </a:spcAft>
      <a:buClr>
        <a:srgbClr val="800000"/>
      </a:buClr>
      <a:buFont typeface="Wingdings" charset="2"/>
      <a:buChar char="§"/>
      <a:defRPr sz="1400" kern="1200">
        <a:solidFill>
          <a:schemeClr val="tx1"/>
        </a:solidFill>
        <a:latin typeface="Verdana"/>
        <a:ea typeface="ＭＳ Ｐゴシック" charset="0"/>
        <a:cs typeface="Verdana"/>
      </a:defRPr>
    </a:lvl4pPr>
    <a:lvl5pPr marL="1606550" indent="-285750" algn="l" rtl="0" eaLnBrk="0" fontAlgn="base" hangingPunct="0">
      <a:spcBef>
        <a:spcPct val="30000"/>
      </a:spcBef>
      <a:spcAft>
        <a:spcPct val="0"/>
      </a:spcAft>
      <a:buClr>
        <a:srgbClr val="800000"/>
      </a:buClr>
      <a:buFont typeface="Wingdings" charset="2"/>
      <a:buChar char="§"/>
      <a:defRPr sz="1400" kern="1200">
        <a:solidFill>
          <a:schemeClr val="tx1"/>
        </a:solidFill>
        <a:latin typeface="Verdana"/>
        <a:ea typeface="ＭＳ Ｐゴシック" charset="0"/>
        <a:cs typeface="Verdana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Welcome.</a:t>
            </a:r>
          </a:p>
          <a:p>
            <a:r>
              <a:rPr lang="de-DE" dirty="0"/>
              <a:t>The title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mouthful</a:t>
            </a:r>
            <a:r>
              <a:rPr lang="de-DE" dirty="0"/>
              <a:t>, </a:t>
            </a:r>
            <a:r>
              <a:rPr lang="de-DE" dirty="0" err="1"/>
              <a:t>we</a:t>
            </a:r>
            <a:r>
              <a:rPr lang="de-DE" dirty="0"/>
              <a:t> will </a:t>
            </a:r>
            <a:r>
              <a:rPr lang="de-DE" dirty="0" err="1"/>
              <a:t>dissect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together</a:t>
            </a:r>
            <a:r>
              <a:rPr lang="de-DE" dirty="0"/>
              <a:t>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53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Normal Reinforcement Learning agents are specific skill learning agent.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specific skill is learnt through a reward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authors, on the contrary, want build an agent that can learn open ended skills.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Inspiration comes from “Developmental machine learning” - branch of machine learning that mimics skill learning process from infants.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According to psychologist – Novelty is the key for the internal satisfaction of infants.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After accomplishing a goal it is no longer interesting for the child to accomplish the same goal.</a:t>
            </a:r>
          </a:p>
          <a:p>
            <a:pPr marL="673100" lvl="1" indent="-342900">
              <a:buFont typeface="Arial" panose="020B0604020202020204" pitchFamily="34" charset="0"/>
              <a:buChar char="•"/>
            </a:pPr>
            <a:r>
              <a:rPr lang="en-US" dirty="0"/>
              <a:t>Example after stacking blocks in the picture, it becomes less interesting for the child to stack books.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They always try to do new tasks/goals </a:t>
            </a:r>
            <a:r>
              <a:rPr lang="en-US" dirty="0">
                <a:sym typeface="Wingdings" pitchFamily="2" charset="2"/>
              </a:rPr>
              <a:t> </a:t>
            </a:r>
          </a:p>
          <a:p>
            <a:pPr marL="673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They are intrinsically motivated to learn new skills</a:t>
            </a:r>
          </a:p>
          <a:p>
            <a:pPr marL="673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They are inherently curiosity.</a:t>
            </a:r>
          </a:p>
          <a:p>
            <a:pPr marL="673100" lvl="1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The authors try to mimic this aspect of child development in their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46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next motivation comes from the work of psychologist Vygotsky.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Let us look at the picture on the right here.</a:t>
            </a:r>
          </a:p>
          <a:p>
            <a:pPr marL="673100" lvl="1" indent="-342900">
              <a:buFont typeface="Arial" panose="020B0604020202020204" pitchFamily="34" charset="0"/>
              <a:buChar char="•"/>
            </a:pPr>
            <a:r>
              <a:rPr lang="en-US" dirty="0"/>
              <a:t>There are 3 zones of skills for a child –</a:t>
            </a:r>
          </a:p>
          <a:p>
            <a:pPr marL="960438" lvl="2" indent="-342900">
              <a:buFont typeface="Arial" panose="020B0604020202020204" pitchFamily="34" charset="0"/>
              <a:buChar char="•"/>
            </a:pPr>
            <a:r>
              <a:rPr lang="en-US" dirty="0"/>
              <a:t>Inner skill zone. These are trivial zones. For example if a child know how to stack blocks, he will know how to stack books.</a:t>
            </a:r>
          </a:p>
          <a:p>
            <a:pPr marL="960438" lvl="2" indent="-342900">
              <a:buFont typeface="Arial" panose="020B0604020202020204" pitchFamily="34" charset="0"/>
              <a:buChar char="•"/>
            </a:pPr>
            <a:r>
              <a:rPr lang="en-US" dirty="0"/>
              <a:t>Middle skill zone. This is learnable using some guidance. Example, stacking a different shape instead of a tower</a:t>
            </a:r>
          </a:p>
          <a:p>
            <a:pPr marL="960438" lvl="2" indent="-342900">
              <a:buFont typeface="Arial" panose="020B0604020202020204" pitchFamily="34" charset="0"/>
              <a:buChar char="•"/>
            </a:pPr>
            <a:r>
              <a:rPr lang="en-US" dirty="0"/>
              <a:t>Outer skill zone. This are non-trivial accomplishable goals. For example for a child that has just learnt to stack blocks, it is almost impossible to </a:t>
            </a:r>
            <a:br>
              <a:rPr lang="en-US" dirty="0"/>
            </a:br>
            <a:r>
              <a:rPr lang="en-US" dirty="0"/>
              <a:t>to create a complex Lego machine.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summary, according to Vygotsky, in his theory “Zone of proximal development”, a child requires some guidance to increase the zone of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is provided by guidance/scaffolding from some partner.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Scaffolding can be thought of like this picture of a building construction. The framework is laid out first which guides the building that is constructed.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medium of scaffolding is language in the parent-child scenario. The parent becomes the social partner giving guidance to the child.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Hence the authors use language as a medium of aid.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Other reasons authors use language is </a:t>
            </a:r>
          </a:p>
          <a:p>
            <a:pPr marL="673100" lvl="1" indent="-342900">
              <a:buFont typeface="Arial" panose="020B0604020202020204" pitchFamily="34" charset="0"/>
              <a:buChar char="•"/>
            </a:pPr>
            <a:r>
              <a:rPr lang="en-US" dirty="0"/>
              <a:t>Collective knowledge of 1000s of years is embedded in our languages.</a:t>
            </a:r>
          </a:p>
          <a:p>
            <a:pPr marL="673100" lvl="1" indent="-342900">
              <a:buFont typeface="Arial" panose="020B0604020202020204" pitchFamily="34" charset="0"/>
              <a:buChar char="•"/>
            </a:pPr>
            <a:r>
              <a:rPr lang="en-US" dirty="0"/>
              <a:t>Combinatorial compositionality of language makes it good for describing/formulating and imagining new goals.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Next question – What does it mean to be curious?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2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So lets move forward to define our problem. What exactly is being solved here?</a:t>
            </a:r>
          </a:p>
          <a:p>
            <a:r>
              <a:rPr lang="en-US" baseline="0" dirty="0"/>
              <a:t>Accomplishing a task can be divided into 2 stages. – Understand the Task. Complete the task.</a:t>
            </a:r>
          </a:p>
          <a:p>
            <a:r>
              <a:rPr lang="en-US" baseline="0" dirty="0"/>
              <a:t>The paper talks about the first part – goal discovery. This is the main focus.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Because of these 2 stages we have 2 stages/levels of generalization.</a:t>
            </a:r>
          </a:p>
          <a:p>
            <a:r>
              <a:rPr lang="en-US" baseline="0" dirty="0"/>
              <a:t>This concept is essential to understand –</a:t>
            </a:r>
          </a:p>
          <a:p>
            <a:pPr lvl="1"/>
            <a:r>
              <a:rPr lang="en-US" baseline="0" dirty="0"/>
              <a:t>State space generalization. </a:t>
            </a:r>
            <a:r>
              <a:rPr lang="en-US" baseline="0" dirty="0">
                <a:sym typeface="Wingdings" pitchFamily="2" charset="2"/>
              </a:rPr>
              <a:t> This is talked about and handled in vanilla RL policies.</a:t>
            </a:r>
            <a:endParaRPr lang="en-US" baseline="0" dirty="0"/>
          </a:p>
          <a:p>
            <a:pPr lvl="1"/>
            <a:r>
              <a:rPr lang="en-US" baseline="0" dirty="0"/>
              <a:t>Goal generalization. </a:t>
            </a:r>
            <a:r>
              <a:rPr lang="en-US" baseline="0" dirty="0">
                <a:sym typeface="Wingdings" pitchFamily="2" charset="2"/>
              </a:rPr>
              <a:t> This is a generalization at a higher abstraction.</a:t>
            </a:r>
          </a:p>
          <a:p>
            <a:pPr lvl="0"/>
            <a:r>
              <a:rPr lang="en-US" sz="2000" baseline="0" dirty="0">
                <a:sym typeface="Wingdings" pitchFamily="2" charset="2"/>
              </a:rPr>
              <a:t>The first is policy generalization within a goal.</a:t>
            </a:r>
          </a:p>
          <a:p>
            <a:pPr lvl="0"/>
            <a:r>
              <a:rPr lang="en-US" sz="2000" baseline="0" dirty="0">
                <a:sym typeface="Wingdings" pitchFamily="2" charset="2"/>
              </a:rPr>
              <a:t>The second is policy generalization across a goals.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sz="2000" baseline="0" dirty="0">
                <a:sym typeface="Wingdings" pitchFamily="2" charset="2"/>
              </a:rPr>
              <a:t>Take for example moving objects in the x-y plane.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sz="2000" baseline="0" dirty="0">
                <a:sym typeface="Wingdings" pitchFamily="2" charset="2"/>
              </a:rPr>
              <a:t>If an agent after learning to move an object from (1,0) to (3,3) does the same job moving object from (4,5) to (0,0) This is called state space generalization.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sz="2000" baseline="0" dirty="0">
                <a:sym typeface="Wingdings" pitchFamily="2" charset="2"/>
              </a:rPr>
              <a:t>If on the other hand it can also move a table from (1,0) to (3,3) this is goal generalization.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sz="2000" baseline="0" dirty="0">
                <a:sym typeface="Wingdings" pitchFamily="2" charset="2"/>
              </a:rPr>
              <a:t>To generalize we need to explore in both cases.</a:t>
            </a:r>
          </a:p>
          <a:p>
            <a:pPr lvl="0"/>
            <a:endParaRPr lang="de-DE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59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="0" baseline="0" dirty="0"/>
              <a:t>As state space generalization is trivial, we talk about goal generalization.</a:t>
            </a:r>
          </a:p>
          <a:p>
            <a:r>
              <a:rPr lang="en-US" b="0" baseline="0" dirty="0"/>
              <a:t>Traditional RL does not have this problem because the goals are given in terms of reward functions.</a:t>
            </a:r>
          </a:p>
          <a:p>
            <a:r>
              <a:rPr lang="en-US" b="0" baseline="0" dirty="0"/>
              <a:t>What I would like you to observe is that the problem of generalization and exploration essentially is the same -- it only differs in the level of abstraction.</a:t>
            </a:r>
          </a:p>
          <a:p>
            <a:r>
              <a:rPr lang="en-US" b="0" baseline="0" dirty="0"/>
              <a:t>What are the previous works that have tried goal generalization?</a:t>
            </a:r>
          </a:p>
          <a:p>
            <a:pPr lvl="1"/>
            <a:r>
              <a:rPr lang="en-US" b="0" baseline="0" dirty="0"/>
              <a:t>Firstly they represented the goals as a Euclidean vector.</a:t>
            </a:r>
          </a:p>
          <a:p>
            <a:pPr lvl="1"/>
            <a:r>
              <a:rPr lang="en-US" b="0" baseline="0" dirty="0"/>
              <a:t>They used generation mechanisms like Generative Adversarial Networks or Variational auto encoder to generate the goals.</a:t>
            </a:r>
          </a:p>
          <a:p>
            <a:r>
              <a:rPr lang="en-US" b="0" baseline="0" dirty="0"/>
              <a:t>Up until this point we have discussed things quite abstractly so lets jump right into the proposed agent by the authors.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0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Comment - Consider showing the left half.</a:t>
            </a:r>
          </a:p>
          <a:p>
            <a:r>
              <a:rPr lang="en-US" b="0" baseline="0" dirty="0"/>
              <a:t>This is the proposed agent by the authors. They call it IMAGINE.</a:t>
            </a:r>
          </a:p>
          <a:p>
            <a:r>
              <a:rPr lang="en-US" b="0" baseline="0" dirty="0"/>
              <a:t>We will come back to this again at the end.</a:t>
            </a:r>
          </a:p>
          <a:p>
            <a:r>
              <a:rPr lang="en-US" b="0" baseline="0" dirty="0"/>
              <a:t>But let us break things one by one to understand the components</a:t>
            </a:r>
          </a:p>
          <a:p>
            <a:pPr lvl="1"/>
            <a:r>
              <a:rPr lang="en-US" b="0" baseline="0" dirty="0"/>
              <a:t>Social Partner - We have a social partner as discussed previously.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="0" baseline="0" dirty="0"/>
              <a:t>There is a Goal Generation (Which we will talk in a little while)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="0" baseline="0" dirty="0"/>
              <a:t>What you have to observe is that the Goal generation is an inherent module in the agent. Hence the name – Intrinsic motivation.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="0" baseline="0" dirty="0"/>
              <a:t>Also you will be able to recognize Social partner.</a:t>
            </a:r>
          </a:p>
          <a:p>
            <a:pPr lvl="1"/>
            <a:endParaRPr lang="en-US" b="0" baseline="0" dirty="0"/>
          </a:p>
          <a:p>
            <a:pPr lv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8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A 2 dimensional limited space containing different objects.</a:t>
            </a:r>
          </a:p>
          <a:p>
            <a:pPr lvl="1"/>
            <a:r>
              <a:rPr lang="en-US" b="0" baseline="0" dirty="0"/>
              <a:t>List of objects are listed on the right bottom.</a:t>
            </a:r>
          </a:p>
          <a:p>
            <a:pPr lvl="0"/>
            <a:r>
              <a:rPr lang="en-US" b="0" baseline="0" dirty="0"/>
              <a:t>Each object is represented as a circle. With a radius.</a:t>
            </a:r>
          </a:p>
          <a:p>
            <a:pPr lvl="0"/>
            <a:r>
              <a:rPr lang="en-US" b="0" baseline="0" dirty="0"/>
              <a:t>Even the agent is represented by a circle with an agent. (For showing the authors show the different objects)</a:t>
            </a:r>
          </a:p>
          <a:p>
            <a:r>
              <a:rPr lang="en-US" b="0" baseline="0" dirty="0"/>
              <a:t>There is predicate hierarchy which is not told to our agent</a:t>
            </a:r>
          </a:p>
          <a:p>
            <a:pPr lvl="1"/>
            <a:r>
              <a:rPr lang="en-US" b="0" baseline="0" dirty="0"/>
              <a:t>This helps for testing the generalization, the agent has to generalize based on predicates.</a:t>
            </a:r>
          </a:p>
          <a:p>
            <a:pPr lvl="1"/>
            <a:r>
              <a:rPr lang="en-US" b="0" baseline="0" dirty="0"/>
              <a:t>Observe the main categories – Living things, furniture and food/water supply.</a:t>
            </a:r>
          </a:p>
          <a:p>
            <a:pPr lvl="1"/>
            <a:r>
              <a:rPr lang="en-US" b="0" baseline="0" dirty="0"/>
              <a:t>This can be viewed as a farm.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="0" baseline="0" dirty="0"/>
              <a:t>There are 3 basic commands that can be executed by the agent – Go Grasp Grow.</a:t>
            </a:r>
          </a:p>
          <a:p>
            <a:pPr lvl="0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93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To Give you an idea of how the environment is quantified, I have put this slide here.</a:t>
            </a:r>
          </a:p>
          <a:p>
            <a:r>
              <a:rPr lang="en-US" b="0" baseline="0" dirty="0"/>
              <a:t>Explain object, agent action and observation</a:t>
            </a:r>
          </a:p>
          <a:p>
            <a:r>
              <a:rPr lang="en-US" b="0" baseline="0" dirty="0"/>
              <a:t>The state is a combination of observation and delta observation.</a:t>
            </a:r>
          </a:p>
          <a:p>
            <a:pPr lvl="1"/>
            <a:r>
              <a:rPr lang="en-US" b="0" baseline="0" dirty="0"/>
              <a:t>This helps us quantify and account for the growth of an object in the environment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96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Fundamental Idea – Use language compositionality to generate new goals.</a:t>
            </a:r>
          </a:p>
          <a:p>
            <a:r>
              <a:rPr lang="en-US" b="0" baseline="0" dirty="0"/>
              <a:t>How is language compositionality actually utilized.</a:t>
            </a:r>
          </a:p>
          <a:p>
            <a:r>
              <a:rPr lang="en-US" b="0" baseline="0" dirty="0"/>
              <a:t>Lets first talk about the jargon.</a:t>
            </a:r>
          </a:p>
          <a:p>
            <a:pPr lvl="1"/>
            <a:r>
              <a:rPr lang="en-US" b="0" baseline="0" dirty="0"/>
              <a:t>An atom is a word (Which makes sense because it is semantically unbreakable)</a:t>
            </a:r>
          </a:p>
          <a:p>
            <a:pPr lvl="1"/>
            <a:r>
              <a:rPr lang="en-US" b="0" baseline="0" dirty="0"/>
              <a:t>A Compound is a obtained using the composition of atoms.</a:t>
            </a:r>
          </a:p>
          <a:p>
            <a:pPr lvl="1"/>
            <a:r>
              <a:rPr lang="en-US" b="0" baseline="0" dirty="0"/>
              <a:t>This is also called a goal.</a:t>
            </a:r>
          </a:p>
          <a:p>
            <a:pPr lvl="0"/>
            <a:r>
              <a:rPr lang="en-US" b="0" baseline="0" dirty="0"/>
              <a:t>I have listed the grammar at the bottom.</a:t>
            </a:r>
          </a:p>
          <a:p>
            <a:pPr lvl="0"/>
            <a:r>
              <a:rPr lang="en-US" b="0" baseline="0" dirty="0"/>
              <a:t>Observer the main actions that an agent can do –</a:t>
            </a:r>
          </a:p>
          <a:p>
            <a:pPr lvl="1"/>
            <a:r>
              <a:rPr lang="en-US" b="0" baseline="0" dirty="0"/>
              <a:t>Go</a:t>
            </a:r>
          </a:p>
          <a:p>
            <a:pPr lvl="1"/>
            <a:r>
              <a:rPr lang="en-US" b="0" baseline="0" dirty="0"/>
              <a:t>Grasp</a:t>
            </a:r>
          </a:p>
          <a:p>
            <a:pPr lvl="1"/>
            <a:r>
              <a:rPr lang="en-US" b="0" baseline="0" dirty="0"/>
              <a:t>Grow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62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It starts by taking all the known goals (Compounds).</a:t>
            </a:r>
          </a:p>
          <a:p>
            <a:pPr lvl="0"/>
            <a:r>
              <a:rPr lang="en-US" b="0" baseline="0" dirty="0"/>
              <a:t>Calculate the the atom equivalence.</a:t>
            </a:r>
          </a:p>
          <a:p>
            <a:pPr lvl="1"/>
            <a:r>
              <a:rPr lang="en-US" b="0" baseline="0" dirty="0"/>
              <a:t>If 2 compounds have an edit distance = 1, then their differing atoms are equivalent.</a:t>
            </a:r>
          </a:p>
          <a:p>
            <a:pPr lvl="0"/>
            <a:r>
              <a:rPr lang="en-US" b="0" baseline="0" dirty="0"/>
              <a:t>For all the goal template do all the substitutions of words one by one to generate the resulting compounds.</a:t>
            </a:r>
          </a:p>
          <a:p>
            <a:pPr lvl="0"/>
            <a:r>
              <a:rPr lang="en-US" b="0" baseline="0" dirty="0"/>
              <a:t>Filter out the compounds from the known compounds.</a:t>
            </a:r>
          </a:p>
          <a:p>
            <a:pPr lvl="0"/>
            <a:r>
              <a:rPr lang="en-US" b="0" baseline="0" dirty="0"/>
              <a:t>Return the imagined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84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Lets look at the other components briefly before we get into the details of the architecture.</a:t>
            </a:r>
          </a:p>
          <a:p>
            <a:r>
              <a:rPr lang="en-US" b="0" baseline="0" dirty="0"/>
              <a:t>&lt;Mention the components&gt;</a:t>
            </a:r>
          </a:p>
          <a:p>
            <a:r>
              <a:rPr lang="en-US" b="0" baseline="0" dirty="0"/>
              <a:t>How are they trained.</a:t>
            </a:r>
          </a:p>
          <a:p>
            <a:pPr lvl="1"/>
            <a:r>
              <a:rPr lang="en-US" b="0" baseline="0" dirty="0"/>
              <a:t>Basic principle is that anything that is of interest is saved.</a:t>
            </a:r>
          </a:p>
          <a:p>
            <a:pPr lvl="1"/>
            <a:r>
              <a:rPr lang="en-US" b="0" baseline="0" dirty="0"/>
              <a:t>Use the saved data to train the components.</a:t>
            </a:r>
          </a:p>
          <a:p>
            <a:pPr lvl="0"/>
            <a:r>
              <a:rPr lang="en-US" b="0" baseline="0" dirty="0"/>
              <a:t>One important thing – The function approximators are goal conditioned.</a:t>
            </a:r>
          </a:p>
          <a:p>
            <a:pPr lvl="0"/>
            <a:r>
              <a:rPr lang="en-US" b="0" baseline="0" dirty="0"/>
              <a:t>It will become more clear if we go to through the architecture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11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Let us come back to our architecture so see how much we have understood.</a:t>
            </a:r>
          </a:p>
          <a:p>
            <a:pPr lvl="1"/>
            <a:r>
              <a:rPr lang="en-US" b="0" baseline="0" dirty="0"/>
              <a:t>Here we can see some of the basic principles of what we discussed previous slides.</a:t>
            </a:r>
          </a:p>
          <a:p>
            <a:pPr lvl="1"/>
            <a:r>
              <a:rPr lang="en-US" b="0" baseline="0" dirty="0"/>
              <a:t>We see the playground environment on the right had corner</a:t>
            </a:r>
          </a:p>
          <a:p>
            <a:pPr lvl="1"/>
            <a:r>
              <a:rPr lang="en-US" b="0" baseline="0" dirty="0"/>
              <a:t>We have understood the Goal Generation mechanism.</a:t>
            </a:r>
          </a:p>
          <a:p>
            <a:r>
              <a:rPr lang="en-US" b="0" baseline="0" dirty="0"/>
              <a:t>Now lets put all the things together and understand everything in sequence with the algorithm.</a:t>
            </a:r>
          </a:p>
          <a:p>
            <a:pPr lv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09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Going through the algorithm step by step to help understand the algorithm.</a:t>
            </a:r>
          </a:p>
          <a:p>
            <a:r>
              <a:rPr lang="en-US" b="0" baseline="0" dirty="0"/>
              <a:t>We do </a:t>
            </a:r>
          </a:p>
          <a:p>
            <a:pPr lvl="1"/>
            <a:r>
              <a:rPr lang="en-US" b="0" baseline="0" dirty="0"/>
              <a:t>Random initialization for our function approximators.</a:t>
            </a:r>
          </a:p>
          <a:p>
            <a:pPr lvl="1"/>
            <a:r>
              <a:rPr lang="en-US" b="0" baseline="0" dirty="0"/>
              <a:t>Initialize empty sets for our memories (both known goals and imaginary goals)</a:t>
            </a:r>
          </a:p>
          <a:p>
            <a:pPr lvl="0"/>
            <a:r>
              <a:rPr lang="en-US" b="0" baseline="0" dirty="0"/>
              <a:t>Sample weights from the set of known or imaginary goals.</a:t>
            </a:r>
          </a:p>
          <a:p>
            <a:pPr lvl="1"/>
            <a:r>
              <a:rPr lang="en-US" b="0" baseline="0" dirty="0"/>
              <a:t>Convert the goal to the real valued vector using LSTM.</a:t>
            </a:r>
          </a:p>
          <a:p>
            <a:pPr lvl="1"/>
            <a:r>
              <a:rPr lang="en-US" b="0" baseline="0" dirty="0"/>
              <a:t>If sets are empty we take a random vector out of a gaussian distribution.</a:t>
            </a:r>
          </a:p>
          <a:p>
            <a:pPr lvl="0"/>
            <a:r>
              <a:rPr lang="en-US" b="0" baseline="0" dirty="0"/>
              <a:t>Run our policy and add save the whole trajectory to the memory.</a:t>
            </a:r>
          </a:p>
          <a:p>
            <a:pPr lvl="0"/>
            <a:r>
              <a:rPr lang="en-US" b="0" baseline="0" dirty="0"/>
              <a:t>The last step of our trajectory is explained by the social partner.</a:t>
            </a:r>
          </a:p>
          <a:p>
            <a:pPr lvl="0"/>
            <a:r>
              <a:rPr lang="en-US" b="0" baseline="0" dirty="0"/>
              <a:t>This is stored in our reward memory with the corresponding state.</a:t>
            </a:r>
          </a:p>
          <a:p>
            <a:pPr lvl="0"/>
            <a:r>
              <a:rPr lang="en-US" b="0" baseline="0" dirty="0"/>
              <a:t>If Goal generation (here referred to as imagination) is enabled </a:t>
            </a:r>
            <a:r>
              <a:rPr lang="en-US" b="0" baseline="0" dirty="0">
                <a:sym typeface="Wingdings" pitchFamily="2" charset="2"/>
              </a:rPr>
              <a:t> We run the imagine algorithm.</a:t>
            </a:r>
          </a:p>
          <a:p>
            <a:pPr lvl="0"/>
            <a:r>
              <a:rPr lang="en-US" b="0" baseline="0" dirty="0">
                <a:sym typeface="Wingdings" pitchFamily="2" charset="2"/>
              </a:rPr>
              <a:t>Using batch of trajectories stored in the memory, essentially hindsight experience replay, our </a:t>
            </a:r>
            <a:r>
              <a:rPr lang="en-US" b="0" baseline="0" dirty="0" err="1">
                <a:sym typeface="Wingdings" pitchFamily="2" charset="2"/>
              </a:rPr>
              <a:t>policity</a:t>
            </a:r>
            <a:r>
              <a:rPr lang="en-US" b="0" baseline="0" dirty="0">
                <a:sym typeface="Wingdings" pitchFamily="2" charset="2"/>
              </a:rPr>
              <a:t> is updated.</a:t>
            </a:r>
          </a:p>
          <a:p>
            <a:pPr lvl="1"/>
            <a:r>
              <a:rPr lang="en-US" b="0" baseline="0" dirty="0" err="1">
                <a:sym typeface="Wingdings" pitchFamily="2" charset="2"/>
              </a:rPr>
              <a:t>Modularbatch</a:t>
            </a:r>
            <a:r>
              <a:rPr lang="en-US" b="0" baseline="0" dirty="0">
                <a:sym typeface="Wingdings" pitchFamily="2" charset="2"/>
              </a:rPr>
              <a:t> is due to modular trajectories – see appendix.</a:t>
            </a:r>
          </a:p>
          <a:p>
            <a:pPr lvl="0"/>
            <a:r>
              <a:rPr lang="en-US" b="0" baseline="0" dirty="0">
                <a:sym typeface="Wingdings" pitchFamily="2" charset="2"/>
              </a:rPr>
              <a:t>Lastly from the stored rewards the La </a:t>
            </a:r>
            <a:r>
              <a:rPr lang="en-US" b="0" baseline="0" dirty="0" err="1">
                <a:sym typeface="Wingdings" pitchFamily="2" charset="2"/>
              </a:rPr>
              <a:t>guage</a:t>
            </a:r>
            <a:r>
              <a:rPr lang="en-US" b="0" baseline="0" dirty="0">
                <a:sym typeface="Wingdings" pitchFamily="2" charset="2"/>
              </a:rPr>
              <a:t> encoder and the reward function are trained</a:t>
            </a:r>
          </a:p>
          <a:p>
            <a:pPr lvl="1"/>
            <a:r>
              <a:rPr lang="en-US" b="0" baseline="0" dirty="0">
                <a:sym typeface="Wingdings" pitchFamily="2" charset="2"/>
              </a:rPr>
              <a:t>Language encoder training is clear. A supervised function </a:t>
            </a:r>
            <a:r>
              <a:rPr lang="en-US" b="0" baseline="0" dirty="0" err="1">
                <a:sym typeface="Wingdings" pitchFamily="2" charset="2"/>
              </a:rPr>
              <a:t>approximater</a:t>
            </a:r>
            <a:r>
              <a:rPr lang="en-US" b="0" baseline="0" dirty="0">
                <a:sym typeface="Wingdings" pitchFamily="2" charset="2"/>
              </a:rPr>
              <a:t> that maps words to real valued vector.</a:t>
            </a:r>
          </a:p>
          <a:p>
            <a:pPr lvl="1"/>
            <a:r>
              <a:rPr lang="en-US" b="0" baseline="0" dirty="0">
                <a:sym typeface="Wingdings" pitchFamily="2" charset="2"/>
              </a:rPr>
              <a:t>For training the memory reward, (g, </a:t>
            </a:r>
            <a:r>
              <a:rPr lang="en-US" b="0" baseline="0" dirty="0" err="1">
                <a:sym typeface="Wingdings" pitchFamily="2" charset="2"/>
              </a:rPr>
              <a:t>s_t</a:t>
            </a:r>
            <a:r>
              <a:rPr lang="en-US" b="0" baseline="0" dirty="0">
                <a:sym typeface="Wingdings" pitchFamily="2" charset="2"/>
              </a:rPr>
              <a:t>)  1 and all other known goals with St are mapped to zero.</a:t>
            </a:r>
            <a:endParaRPr lang="en-US" b="0" baseline="0" dirty="0"/>
          </a:p>
          <a:p>
            <a:r>
              <a:rPr lang="en-US" b="0" baseline="0" dirty="0"/>
              <a:t>There is addition of </a:t>
            </a:r>
            <a:r>
              <a:rPr lang="en-US" b="0" baseline="0" dirty="0" err="1"/>
              <a:t>r,s</a:t>
            </a:r>
            <a:r>
              <a:rPr lang="en-US" b="0" baseline="0" dirty="0"/>
              <a:t> so that we learn the reward function</a:t>
            </a:r>
          </a:p>
          <a:p>
            <a:pPr lvl="1"/>
            <a:r>
              <a:rPr lang="en-US" b="0" baseline="0" dirty="0"/>
              <a:t>Very important for the behavior adaption.</a:t>
            </a:r>
          </a:p>
          <a:p>
            <a:pPr lv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36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6188" y="409575"/>
            <a:ext cx="5202237" cy="29273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The state space generalization is almost perfect.</a:t>
            </a:r>
          </a:p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So the focus is on goal generalization.</a:t>
            </a:r>
          </a:p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There were 2 types of interesting behaviors observed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Grow imagination to non living things. This is clearly because of the power of language compositionality.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Hence the imagination of out of distribution goals is shown in this case.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Second is a behavior adaption which is more subtle</a:t>
            </a:r>
          </a:p>
          <a:p>
            <a:pPr marL="903288" marR="0" lvl="2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First the social partner in its description of goals, never describes that plants can grow. But this is got through goal imagination trivially</a:t>
            </a:r>
          </a:p>
          <a:p>
            <a:pPr marL="903288" marR="0" lvl="2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It also does not state that plants only grow through water.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How is behavior adaption accomplished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First we have to remember that ”Grow” goal is only accomplished when the object is grown.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/>
              <a:t>How does the agent get to know that it has accomplished a goal without the help of the social partner? </a:t>
            </a:r>
            <a:r>
              <a:rPr lang="en-US" baseline="0" dirty="0">
                <a:sym typeface="Wingdings" pitchFamily="2" charset="2"/>
              </a:rPr>
              <a:t> Reward function.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>
                <a:sym typeface="Wingdings" pitchFamily="2" charset="2"/>
              </a:rPr>
              <a:t>So the steps are</a:t>
            </a:r>
          </a:p>
          <a:p>
            <a:pPr marL="903288" marR="0" lvl="2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>
                <a:sym typeface="Wingdings" pitchFamily="2" charset="2"/>
              </a:rPr>
              <a:t>First image to grow a plant.</a:t>
            </a:r>
          </a:p>
          <a:p>
            <a:pPr marL="903288" marR="0" lvl="2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>
                <a:sym typeface="Wingdings" pitchFamily="2" charset="2"/>
              </a:rPr>
              <a:t>Explore the </a:t>
            </a:r>
            <a:r>
              <a:rPr lang="en-US" baseline="0" dirty="0" err="1">
                <a:sym typeface="Wingdings" pitchFamily="2" charset="2"/>
              </a:rPr>
              <a:t>statespace</a:t>
            </a:r>
            <a:r>
              <a:rPr lang="en-US" baseline="0" dirty="0">
                <a:sym typeface="Wingdings" pitchFamily="2" charset="2"/>
              </a:rPr>
              <a:t> by following the policy</a:t>
            </a:r>
          </a:p>
          <a:p>
            <a:pPr marL="903288" marR="0" lvl="2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>
                <a:sym typeface="Wingdings" pitchFamily="2" charset="2"/>
              </a:rPr>
              <a:t>When the object (tree) is grown, the reward signals the goal is accomplished</a:t>
            </a:r>
          </a:p>
          <a:p>
            <a:pPr marL="903288" marR="0" lvl="2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>
                <a:sym typeface="Wingdings" pitchFamily="2" charset="2"/>
              </a:rPr>
              <a:t>This trajectory is stored in the trajectories memory of policies.</a:t>
            </a:r>
          </a:p>
          <a:p>
            <a:pPr marL="903288" marR="0" lvl="2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>
                <a:sym typeface="Wingdings" pitchFamily="2" charset="2"/>
              </a:rPr>
              <a:t>From now on the policy on the goal of growing the tree is trained on this trajectory</a:t>
            </a:r>
          </a:p>
          <a:p>
            <a:pPr marL="903288" marR="0" lvl="2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baseline="0" dirty="0">
                <a:sym typeface="Wingdings" pitchFamily="2" charset="2"/>
              </a:rPr>
              <a:t>Hence the behavior adaption.</a:t>
            </a:r>
            <a:endParaRPr lang="en-US" baseline="0" dirty="0"/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803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6188" y="409575"/>
            <a:ext cx="5202237" cy="29273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95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6188" y="409575"/>
            <a:ext cx="5202237" cy="29273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42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6188" y="409575"/>
            <a:ext cx="5202237" cy="29273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limitations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per </a:t>
            </a:r>
            <a:r>
              <a:rPr lang="de-DE" dirty="0" err="1"/>
              <a:t>my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paper</a:t>
            </a:r>
            <a:endParaRPr lang="de-DE" dirty="0"/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dirty="0"/>
              <a:t>The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/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architecture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simple.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dirty="0"/>
              <a:t>The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grammar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primitive.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dirty="0" err="1"/>
              <a:t>Very</a:t>
            </a:r>
            <a:r>
              <a:rPr lang="de-DE" dirty="0"/>
              <a:t> high </a:t>
            </a:r>
            <a:r>
              <a:rPr lang="de-DE" dirty="0" err="1"/>
              <a:t>computational</a:t>
            </a:r>
            <a:r>
              <a:rPr lang="de-DE" dirty="0"/>
              <a:t> </a:t>
            </a:r>
            <a:r>
              <a:rPr lang="de-DE" dirty="0" err="1"/>
              <a:t>costs</a:t>
            </a:r>
            <a:r>
              <a:rPr lang="de-DE" dirty="0"/>
              <a:t>.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had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~2.5 CPU </a:t>
            </a:r>
            <a:r>
              <a:rPr lang="de-DE" dirty="0" err="1"/>
              <a:t>years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architecture</a:t>
            </a:r>
            <a:r>
              <a:rPr lang="de-DE" dirty="0"/>
              <a:t>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had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train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multiple </a:t>
            </a:r>
            <a:r>
              <a:rPr lang="de-DE" dirty="0" err="1"/>
              <a:t>seeds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account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high </a:t>
            </a:r>
            <a:r>
              <a:rPr lang="de-DE" dirty="0" err="1"/>
              <a:t>variations</a:t>
            </a:r>
            <a:r>
              <a:rPr lang="de-DE" dirty="0"/>
              <a:t> in </a:t>
            </a:r>
            <a:r>
              <a:rPr lang="de-DE" dirty="0" err="1"/>
              <a:t>their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approximators</a:t>
            </a:r>
            <a:r>
              <a:rPr lang="de-DE" dirty="0"/>
              <a:t>.</a:t>
            </a:r>
          </a:p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dirty="0"/>
              <a:t>In Future </a:t>
            </a:r>
            <a:r>
              <a:rPr lang="de-DE" dirty="0" err="1"/>
              <a:t>works</a:t>
            </a:r>
            <a:r>
              <a:rPr lang="de-DE" dirty="0"/>
              <a:t> –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dirty="0"/>
              <a:t>A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introduced</a:t>
            </a:r>
            <a:r>
              <a:rPr lang="de-DE" dirty="0"/>
              <a:t>. </a:t>
            </a:r>
            <a:r>
              <a:rPr lang="de-DE" dirty="0" err="1"/>
              <a:t>E.g</a:t>
            </a:r>
            <a:r>
              <a:rPr lang="de-DE" dirty="0"/>
              <a:t> </a:t>
            </a:r>
            <a:r>
              <a:rPr lang="de-DE" dirty="0" err="1"/>
              <a:t>having</a:t>
            </a:r>
            <a:r>
              <a:rPr lang="de-DE" dirty="0"/>
              <a:t> relative </a:t>
            </a:r>
            <a:r>
              <a:rPr lang="de-DE" dirty="0" err="1"/>
              <a:t>positions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grammar</a:t>
            </a:r>
            <a:r>
              <a:rPr lang="de-DE" dirty="0"/>
              <a:t>. </a:t>
            </a:r>
            <a:r>
              <a:rPr lang="de-DE" dirty="0" err="1"/>
              <a:t>E.g</a:t>
            </a:r>
            <a:r>
              <a:rPr lang="de-DE" dirty="0"/>
              <a:t> Move </a:t>
            </a:r>
            <a:r>
              <a:rPr lang="de-DE" dirty="0" err="1"/>
              <a:t>chair</a:t>
            </a:r>
            <a:r>
              <a:rPr lang="de-DE" dirty="0"/>
              <a:t> </a:t>
            </a:r>
            <a:r>
              <a:rPr lang="de-DE" dirty="0" err="1"/>
              <a:t>left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table</a:t>
            </a:r>
            <a:r>
              <a:rPr lang="de-DE" dirty="0"/>
              <a:t>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baseline="0" dirty="0" err="1"/>
              <a:t>Scaling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construction</a:t>
            </a:r>
            <a:r>
              <a:rPr lang="de-DE" baseline="0" dirty="0"/>
              <a:t> </a:t>
            </a:r>
            <a:r>
              <a:rPr lang="de-DE" baseline="0" dirty="0" err="1"/>
              <a:t>grammar</a:t>
            </a:r>
            <a:r>
              <a:rPr lang="de-DE" baseline="0" dirty="0"/>
              <a:t> </a:t>
            </a:r>
            <a:r>
              <a:rPr lang="de-DE" baseline="0" dirty="0" err="1"/>
              <a:t>to</a:t>
            </a:r>
            <a:r>
              <a:rPr lang="de-DE" baseline="0" dirty="0"/>
              <a:t> real </a:t>
            </a:r>
            <a:r>
              <a:rPr lang="de-DE" baseline="0" dirty="0" err="1"/>
              <a:t>langauages</a:t>
            </a:r>
            <a:r>
              <a:rPr lang="de-DE" baseline="0" dirty="0"/>
              <a:t>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de-DE" baseline="0" dirty="0" err="1"/>
              <a:t>They</a:t>
            </a:r>
            <a:r>
              <a:rPr lang="de-DE" baseline="0" dirty="0"/>
              <a:t> </a:t>
            </a:r>
            <a:r>
              <a:rPr lang="de-DE" baseline="0" dirty="0" err="1"/>
              <a:t>would</a:t>
            </a:r>
            <a:r>
              <a:rPr lang="de-DE" baseline="0" dirty="0"/>
              <a:t> like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further</a:t>
            </a:r>
            <a:r>
              <a:rPr lang="de-DE" baseline="0" dirty="0"/>
              <a:t> </a:t>
            </a:r>
            <a:r>
              <a:rPr lang="de-DE" baseline="0" dirty="0" err="1"/>
              <a:t>reduce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burden</a:t>
            </a:r>
            <a:r>
              <a:rPr lang="de-DE" baseline="0" dirty="0"/>
              <a:t> on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social</a:t>
            </a:r>
            <a:r>
              <a:rPr lang="de-DE" baseline="0" dirty="0"/>
              <a:t> </a:t>
            </a:r>
            <a:r>
              <a:rPr lang="de-DE" baseline="0" dirty="0" err="1"/>
              <a:t>partner</a:t>
            </a:r>
            <a:r>
              <a:rPr lang="de-DE" baseline="0" dirty="0"/>
              <a:t> – </a:t>
            </a:r>
            <a:r>
              <a:rPr lang="de-DE" baseline="0" dirty="0" err="1"/>
              <a:t>by</a:t>
            </a:r>
            <a:r>
              <a:rPr lang="de-DE" baseline="0" dirty="0"/>
              <a:t> </a:t>
            </a:r>
            <a:r>
              <a:rPr lang="de-DE" baseline="0" dirty="0" err="1"/>
              <a:t>reducing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requirement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presence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perfect</a:t>
            </a:r>
            <a:r>
              <a:rPr lang="de-DE" baseline="0" dirty="0"/>
              <a:t> </a:t>
            </a:r>
            <a:r>
              <a:rPr lang="de-DE" baseline="0" dirty="0" err="1"/>
              <a:t>description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agent</a:t>
            </a:r>
            <a:r>
              <a:rPr lang="de-DE" baseline="0" dirty="0"/>
              <a:t>.</a:t>
            </a:r>
          </a:p>
          <a:p>
            <a:pPr marL="615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720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65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6188" y="409575"/>
            <a:ext cx="5202237" cy="29273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lang="en-US" dirty="0"/>
              <a:t>-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84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It starts by taking all the known goals (Compounds).</a:t>
            </a:r>
          </a:p>
          <a:p>
            <a:r>
              <a:rPr lang="en-US" b="0" baseline="0" dirty="0"/>
              <a:t>Find out any goal or compound templates</a:t>
            </a:r>
          </a:p>
          <a:p>
            <a:pPr lvl="1"/>
            <a:r>
              <a:rPr lang="en-US" b="0" baseline="0" dirty="0"/>
              <a:t>All goal templates are having edit distance &gt; 2. They cannot be reached by simple substitution.</a:t>
            </a:r>
          </a:p>
          <a:p>
            <a:pPr lvl="0"/>
            <a:r>
              <a:rPr lang="en-US" b="0" baseline="0" dirty="0"/>
              <a:t>Calculate the the atom </a:t>
            </a:r>
            <a:r>
              <a:rPr lang="en-US" b="0" baseline="0" dirty="0" err="1"/>
              <a:t>equivalance</a:t>
            </a:r>
            <a:r>
              <a:rPr lang="en-US" b="0" baseline="0" dirty="0"/>
              <a:t>.</a:t>
            </a:r>
          </a:p>
          <a:p>
            <a:pPr lvl="0"/>
            <a:r>
              <a:rPr lang="en-US" b="0" baseline="0" dirty="0"/>
              <a:t>For all the goal template do all the substitutions of words one by one to generate the resulting compounds.</a:t>
            </a:r>
          </a:p>
          <a:p>
            <a:pPr lvl="0"/>
            <a:r>
              <a:rPr lang="en-US" b="0" baseline="0" dirty="0"/>
              <a:t>Filter out the compounds from the known compounds.</a:t>
            </a:r>
          </a:p>
          <a:p>
            <a:pPr lvl="0"/>
            <a:r>
              <a:rPr lang="en-US" b="0" baseline="0" dirty="0"/>
              <a:t>Return the imagined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001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/>
              <a:t>There is still a discussion about the type of function approximators used inside the whole architecture</a:t>
            </a:r>
          </a:p>
          <a:p>
            <a:r>
              <a:rPr lang="en-US" b="0" baseline="0" dirty="0"/>
              <a:t>Explain the subdivision of the state to objects.</a:t>
            </a:r>
          </a:p>
          <a:p>
            <a:r>
              <a:rPr lang="en-US" b="0" baseline="0" dirty="0"/>
              <a:t>Why is OR and addition taken?</a:t>
            </a:r>
          </a:p>
          <a:p>
            <a:pPr lvl="1"/>
            <a:r>
              <a:rPr lang="en-US" b="0" baseline="0" dirty="0"/>
              <a:t>To make the function permutation invariant.</a:t>
            </a:r>
          </a:p>
          <a:p>
            <a:pPr lvl="1"/>
            <a:r>
              <a:rPr lang="en-US" b="0" baseline="0" dirty="0"/>
              <a:t>Very essential because the objects in the state may not be in the same order </a:t>
            </a:r>
            <a:r>
              <a:rPr lang="en-US" b="0" baseline="0" dirty="0" err="1"/>
              <a:t>everytime</a:t>
            </a:r>
            <a:r>
              <a:rPr lang="en-US" b="0" baseline="0" dirty="0"/>
              <a:t>.</a:t>
            </a:r>
          </a:p>
          <a:p>
            <a:pPr lvl="0"/>
            <a:r>
              <a:rPr lang="en-US" b="0" baseline="0" dirty="0"/>
              <a:t>Second thing – goal conditioning is embedded in an attention vector !!!! (Which is quite beautiful).</a:t>
            </a:r>
          </a:p>
          <a:p>
            <a:pPr lvl="0"/>
            <a:r>
              <a:rPr lang="en-US" b="0" baseline="0" dirty="0"/>
              <a:t>Action also put at the end of object for the critic.</a:t>
            </a:r>
          </a:p>
          <a:p>
            <a:pPr lv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72F1E3-2578-1242-A6A3-72B7E9BB2E1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5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9"/>
          <p:cNvSpPr>
            <a:spLocks noChangeShapeType="1"/>
          </p:cNvSpPr>
          <p:nvPr userDrawn="1"/>
        </p:nvSpPr>
        <p:spPr bwMode="auto">
          <a:xfrm flipV="1">
            <a:off x="0" y="3382566"/>
            <a:ext cx="7848600" cy="0"/>
          </a:xfrm>
          <a:prstGeom prst="line">
            <a:avLst/>
          </a:prstGeom>
          <a:noFill/>
          <a:ln w="34925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1618879"/>
            <a:ext cx="8545672" cy="523220"/>
          </a:xfrm>
        </p:spPr>
        <p:txBody>
          <a:bodyPr anchor="b"/>
          <a:lstStyle>
            <a:lvl1pPr>
              <a:defRPr sz="2800" baseline="0"/>
            </a:lvl1pPr>
          </a:lstStyle>
          <a:p>
            <a:r>
              <a:rPr lang="en-US" dirty="0"/>
              <a:t>Click to edit the title 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800350"/>
            <a:ext cx="6705600" cy="400050"/>
          </a:xfrm>
        </p:spPr>
        <p:txBody>
          <a:bodyPr anchor="b"/>
          <a:lstStyle>
            <a:lvl1pPr marL="0" indent="0">
              <a:buNone/>
              <a:defRPr lang="en-US" sz="1800" b="1" dirty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chemeClr val="folHlink"/>
                </a:solidFill>
                <a:cs typeface="+mn-cs"/>
              </a:rPr>
              <a:t>Authors</a:t>
            </a:r>
          </a:p>
        </p:txBody>
      </p:sp>
      <p:pic>
        <p:nvPicPr>
          <p:cNvPr id="7" name="Picture 18" descr="logo-aiscolor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842" y="2513838"/>
            <a:ext cx="1149004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253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the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3943350"/>
          </a:xfrm>
        </p:spPr>
        <p:txBody>
          <a:bodyPr/>
          <a:lstStyle>
            <a:lvl2pPr>
              <a:defRPr sz="2100"/>
            </a:lvl2pPr>
            <a:lvl3pPr>
              <a:defRPr sz="20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934200" y="479742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6BC48003-D90B-4677-A057-B663AA3C6C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52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-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85750"/>
            <a:ext cx="8545672" cy="1200329"/>
          </a:xfrm>
        </p:spPr>
        <p:txBody>
          <a:bodyPr anchor="t"/>
          <a:lstStyle>
            <a:lvl1pPr>
              <a:defRPr baseline="0"/>
            </a:lvl1pPr>
          </a:lstStyle>
          <a:p>
            <a:r>
              <a:rPr lang="en-US" dirty="0"/>
              <a:t>Click to edit the title - this is a 2-line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14450"/>
            <a:ext cx="8534400" cy="3543300"/>
          </a:xfrm>
        </p:spPr>
        <p:txBody>
          <a:bodyPr/>
          <a:lstStyle>
            <a:lvl4pPr>
              <a:defRPr sz="2400" baseline="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858000" y="475932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fld id="{6BC48003-D90B-4677-A057-B663AA3C6C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712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/>
          <a:p>
            <a:r>
              <a:rPr lang="en-US" dirty="0"/>
              <a:t>Click to edit the title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858000" y="475932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fld id="{6BC48003-D90B-4677-A057-B663AA3C6C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37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Line Title and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85750"/>
            <a:ext cx="8545672" cy="1200329"/>
          </a:xfrm>
        </p:spPr>
        <p:txBody>
          <a:bodyPr anchor="t"/>
          <a:lstStyle>
            <a:lvl1pPr>
              <a:defRPr baseline="0"/>
            </a:lvl1pPr>
          </a:lstStyle>
          <a:p>
            <a:r>
              <a:rPr lang="en-US" dirty="0"/>
              <a:t>Click to edit the title - this is a 2-line heading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858000" y="475932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fld id="{6BC48003-D90B-4677-A057-B663AA3C6C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5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2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85751"/>
            <a:ext cx="8545672" cy="646331"/>
          </a:xfrm>
        </p:spPr>
        <p:txBody>
          <a:bodyPr anchor="t"/>
          <a:lstStyle>
            <a:lvl1pPr algn="ctr">
              <a:defRPr baseline="0"/>
            </a:lvl1pPr>
          </a:lstStyle>
          <a:p>
            <a:r>
              <a:rPr lang="en-US" dirty="0"/>
              <a:t>Click to edit the title (centered) 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858000" y="475932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fld id="{6BC48003-D90B-4677-A057-B663AA3C6C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0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858000" y="475932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fld id="{6BC48003-D90B-4677-A057-B663AA3C6C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3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71550"/>
            <a:ext cx="4130675" cy="3943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1" y="971550"/>
            <a:ext cx="4130675" cy="3943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408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 2-Line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85750"/>
            <a:ext cx="8545672" cy="1200329"/>
          </a:xfrm>
        </p:spPr>
        <p:txBody>
          <a:bodyPr anchor="t"/>
          <a:lstStyle>
            <a:lvl1pPr>
              <a:defRPr baseline="0"/>
            </a:lvl1pPr>
          </a:lstStyle>
          <a:p>
            <a:r>
              <a:rPr lang="en-US" dirty="0"/>
              <a:t>Click to edit the title - this is a 2-line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130675" cy="3543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1" y="1371600"/>
            <a:ext cx="4130675" cy="3543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55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120432"/>
            <a:ext cx="8424863" cy="6463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1" y="971550"/>
            <a:ext cx="4130675" cy="1743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92676" y="971550"/>
            <a:ext cx="4130675" cy="1743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1" y="2828925"/>
            <a:ext cx="4130675" cy="1743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2676" y="2828925"/>
            <a:ext cx="4130675" cy="1743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531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04800" y="2063532"/>
            <a:ext cx="8534400" cy="64633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2194857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 preferRelativeResize="0"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8" b="7920"/>
          <a:stretch/>
        </p:blipFill>
        <p:spPr>
          <a:xfrm>
            <a:off x="2853" y="1"/>
            <a:ext cx="9138294" cy="5143500"/>
          </a:xfrm>
          <a:prstGeom prst="rect">
            <a:avLst/>
          </a:prstGeom>
        </p:spPr>
      </p:pic>
      <p:sp>
        <p:nvSpPr>
          <p:cNvPr id="21507" name="Textplatzhalter 2"/>
          <p:cNvSpPr>
            <a:spLocks noGrp="1"/>
          </p:cNvSpPr>
          <p:nvPr>
            <p:ph type="subTitle" idx="1" hasCustomPrompt="1"/>
          </p:nvPr>
        </p:nvSpPr>
        <p:spPr>
          <a:xfrm>
            <a:off x="539749" y="1743641"/>
            <a:ext cx="6985002" cy="1620441"/>
          </a:xfrm>
        </p:spPr>
        <p:txBody>
          <a:bodyPr/>
          <a:lstStyle>
            <a:lvl1pPr marL="0" indent="0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Untertitel bearbeiten</a:t>
            </a:r>
          </a:p>
        </p:txBody>
      </p:sp>
      <p:sp>
        <p:nvSpPr>
          <p:cNvPr id="21511" name="Titelplatzhalter 6"/>
          <p:cNvSpPr>
            <a:spLocks noGrp="1"/>
          </p:cNvSpPr>
          <p:nvPr>
            <p:ph type="ctrTitle" hasCustomPrompt="1"/>
          </p:nvPr>
        </p:nvSpPr>
        <p:spPr>
          <a:xfrm>
            <a:off x="539749" y="759888"/>
            <a:ext cx="7345363" cy="769441"/>
          </a:xfrm>
          <a:prstGeom prst="rect">
            <a:avLst/>
          </a:prstGeom>
        </p:spPr>
        <p:txBody>
          <a:bodyPr lIns="0"/>
          <a:lstStyle>
            <a:lvl1pPr>
              <a:defRPr sz="4400"/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539750" y="4084310"/>
            <a:ext cx="7416800" cy="863867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Textfeld 5"/>
          <p:cNvSpPr txBox="1">
            <a:spLocks noChangeArrowheads="1"/>
          </p:cNvSpPr>
          <p:nvPr userDrawn="1"/>
        </p:nvSpPr>
        <p:spPr bwMode="auto">
          <a:xfrm>
            <a:off x="461262" y="3645895"/>
            <a:ext cx="2808288" cy="246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Geneva" charset="-128"/>
              </a:defRPr>
            </a:lvl9pPr>
          </a:lstStyle>
          <a:p>
            <a:pPr eaLnBrk="1" hangingPunct="1">
              <a:defRPr/>
            </a:pPr>
            <a:r>
              <a:rPr lang="de-DE" sz="1000">
                <a:solidFill>
                  <a:schemeClr val="bg1"/>
                </a:solidFill>
                <a:latin typeface="Times New Roman" pitchFamily="18" charset="0"/>
              </a:rPr>
              <a:t>Albert-Ludwigs-Universität Freiburg</a:t>
            </a:r>
          </a:p>
        </p:txBody>
      </p:sp>
    </p:spTree>
    <p:extLst>
      <p:ext uri="{BB962C8B-B14F-4D97-AF65-F5344CB8AC3E}">
        <p14:creationId xmlns:p14="http://schemas.microsoft.com/office/powerpoint/2010/main" val="3028916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43543"/>
            <a:ext cx="85456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71550"/>
            <a:ext cx="8534400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Level 1</a:t>
            </a:r>
            <a:endParaRPr lang="en-US" dirty="0"/>
          </a:p>
          <a:p>
            <a:pPr lvl="1"/>
            <a:r>
              <a:rPr lang="de-DE" dirty="0"/>
              <a:t>Level 2</a:t>
            </a:r>
            <a:endParaRPr lang="en-US" dirty="0"/>
          </a:p>
          <a:p>
            <a:pPr lvl="2"/>
            <a:r>
              <a:rPr lang="de-DE" dirty="0"/>
              <a:t>Level 3</a:t>
            </a:r>
            <a:endParaRPr lang="en-US" dirty="0"/>
          </a:p>
          <a:p>
            <a:pPr lvl="3"/>
            <a:r>
              <a:rPr lang="de-DE" dirty="0"/>
              <a:t>Level 4</a:t>
            </a:r>
            <a:endParaRPr lang="en-US" dirty="0"/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934200" y="4759325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6BC48003-D90B-4677-A057-B663AA3C6CC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80" r:id="rId3"/>
    <p:sldLayoutId id="2147483684" r:id="rId4"/>
    <p:sldLayoutId id="2147483693" r:id="rId5"/>
    <p:sldLayoutId id="2147483695" r:id="rId6"/>
    <p:sldLayoutId id="2147483685" r:id="rId7"/>
    <p:sldLayoutId id="2147483682" r:id="rId8"/>
    <p:sldLayoutId id="2147483694" r:id="rId9"/>
    <p:sldLayoutId id="2147483690" r:id="rId10"/>
    <p:sldLayoutId id="2147483696" r:id="rId11"/>
    <p:sldLayoutId id="214748369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hlink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Verdana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Verdana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Verdana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Verdana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Verdana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Verdana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Verdana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hlink"/>
          </a:solidFill>
          <a:latin typeface="Verdana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1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1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nsplash.com/s/photos/children-playin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sites.google.com/view/imagine-drl" TargetMode="External"/><Relationship Id="rId5" Type="http://schemas.openxmlformats.org/officeDocument/2006/relationships/hyperlink" Target="https://commons.wikimedia.org/w/index.php?curid=304059" TargetMode="External"/><Relationship Id="rId4" Type="http://schemas.openxmlformats.org/officeDocument/2006/relationships/hyperlink" Target="https://commons.wikimedia.org/w/index.php?curid=20903046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/>
          <p:cNvSpPr txBox="1">
            <a:spLocks/>
          </p:cNvSpPr>
          <p:nvPr/>
        </p:nvSpPr>
        <p:spPr bwMode="auto">
          <a:xfrm>
            <a:off x="304800" y="1276350"/>
            <a:ext cx="854567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hlink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hlink"/>
                </a:solidFill>
                <a:latin typeface="Verdana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hlink"/>
                </a:solidFill>
                <a:latin typeface="Verdana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hlink"/>
                </a:solidFill>
                <a:latin typeface="Verdana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hlink"/>
                </a:solidFill>
                <a:latin typeface="Verdana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hlink"/>
                </a:solidFill>
                <a:latin typeface="Verdana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hlink"/>
                </a:solidFill>
                <a:latin typeface="Verdana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hlink"/>
                </a:solidFill>
                <a:latin typeface="Verdana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hlink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de-DE" sz="2800" b="0" dirty="0">
                <a:solidFill>
                  <a:schemeClr val="bg1"/>
                </a:solidFill>
              </a:rPr>
              <a:t>Language </a:t>
            </a:r>
            <a:r>
              <a:rPr lang="de-DE" sz="2800" b="0" dirty="0" err="1">
                <a:solidFill>
                  <a:schemeClr val="bg1"/>
                </a:solidFill>
              </a:rPr>
              <a:t>as</a:t>
            </a:r>
            <a:r>
              <a:rPr lang="de-DE" sz="2800" b="0" dirty="0">
                <a:solidFill>
                  <a:schemeClr val="bg1"/>
                </a:solidFill>
              </a:rPr>
              <a:t> a </a:t>
            </a:r>
            <a:r>
              <a:rPr lang="en-GB" sz="2800" b="0" dirty="0">
                <a:solidFill>
                  <a:schemeClr val="bg1"/>
                </a:solidFill>
              </a:rPr>
              <a:t>Cognitive</a:t>
            </a:r>
            <a:r>
              <a:rPr lang="de-DE" sz="2800" b="0" dirty="0">
                <a:solidFill>
                  <a:schemeClr val="bg1"/>
                </a:solidFill>
              </a:rPr>
              <a:t> Tool </a:t>
            </a:r>
            <a:r>
              <a:rPr lang="de-DE" sz="2800" b="0" dirty="0" err="1">
                <a:solidFill>
                  <a:schemeClr val="bg1"/>
                </a:solidFill>
              </a:rPr>
              <a:t>to</a:t>
            </a:r>
            <a:r>
              <a:rPr lang="de-DE" sz="2800" b="0" dirty="0">
                <a:solidFill>
                  <a:schemeClr val="bg1"/>
                </a:solidFill>
              </a:rPr>
              <a:t> </a:t>
            </a:r>
            <a:r>
              <a:rPr lang="en-GB" sz="2800" b="0" dirty="0">
                <a:solidFill>
                  <a:schemeClr val="bg1"/>
                </a:solidFill>
              </a:rPr>
              <a:t>Imagine</a:t>
            </a:r>
          </a:p>
          <a:p>
            <a:r>
              <a:rPr lang="de-DE" sz="2800" b="0" dirty="0">
                <a:solidFill>
                  <a:schemeClr val="bg1"/>
                </a:solidFill>
              </a:rPr>
              <a:t>Goals in </a:t>
            </a:r>
            <a:r>
              <a:rPr lang="en-US" sz="2800" b="0" dirty="0">
                <a:solidFill>
                  <a:schemeClr val="bg1"/>
                </a:solidFill>
              </a:rPr>
              <a:t>Curiosity-Driven</a:t>
            </a:r>
            <a:r>
              <a:rPr lang="de-DE" sz="2800" b="0" dirty="0">
                <a:solidFill>
                  <a:schemeClr val="bg1"/>
                </a:solidFill>
              </a:rPr>
              <a:t> Exploration</a:t>
            </a:r>
          </a:p>
          <a:p>
            <a:pPr algn="ctr"/>
            <a:endParaRPr lang="en-US" sz="2800" kern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 and Motivation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53309D-4708-5B41-B7E4-18D9212DC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500" y="2000258"/>
            <a:ext cx="2184690" cy="2858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C9B180-4F8A-2D46-9BEB-518A65B690AD}"/>
              </a:ext>
            </a:extLst>
          </p:cNvPr>
          <p:cNvSpPr txBox="1"/>
          <p:nvPr/>
        </p:nvSpPr>
        <p:spPr>
          <a:xfrm>
            <a:off x="342226" y="875679"/>
            <a:ext cx="84207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 build an open ended skill learning agent.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Inspiration - </a:t>
            </a:r>
            <a:r>
              <a:rPr lang="en-US" sz="2000" i="1" dirty="0"/>
              <a:t>Developmental machine learning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child’s reward comes from accomplishing </a:t>
            </a:r>
            <a:r>
              <a:rPr lang="en-US" sz="2000" b="1" dirty="0"/>
              <a:t>novel</a:t>
            </a:r>
            <a:r>
              <a:rPr lang="en-US" sz="2000" dirty="0"/>
              <a:t> goals.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8697EE-3081-D543-B54D-D4EC15801AB6}"/>
              </a:ext>
            </a:extLst>
          </p:cNvPr>
          <p:cNvSpPr txBox="1"/>
          <p:nvPr/>
        </p:nvSpPr>
        <p:spPr>
          <a:xfrm>
            <a:off x="5134431" y="4618763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[1]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720FC4-BC80-294E-A5E1-F0DD72A63833}"/>
              </a:ext>
            </a:extLst>
          </p:cNvPr>
          <p:cNvSpPr/>
          <p:nvPr/>
        </p:nvSpPr>
        <p:spPr bwMode="auto">
          <a:xfrm>
            <a:off x="268389" y="3583081"/>
            <a:ext cx="2590800" cy="99542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pPr algn="ctr"/>
            <a:r>
              <a:rPr lang="en-US" sz="2000" dirty="0"/>
              <a:t>Intrinsic Motivation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4F22F4-9870-E44F-BDEF-48B3455F8399}"/>
              </a:ext>
            </a:extLst>
          </p:cNvPr>
          <p:cNvSpPr/>
          <p:nvPr/>
        </p:nvSpPr>
        <p:spPr bwMode="auto">
          <a:xfrm>
            <a:off x="348913" y="2676281"/>
            <a:ext cx="2209800" cy="562630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pPr algn="ctr"/>
            <a:r>
              <a:rPr lang="en-US" sz="2000" dirty="0"/>
              <a:t>Curiosity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7CC0B-67BE-9E41-8A66-2547FA89EC8A}"/>
              </a:ext>
            </a:extLst>
          </p:cNvPr>
          <p:cNvSpPr txBox="1"/>
          <p:nvPr/>
        </p:nvSpPr>
        <p:spPr>
          <a:xfrm>
            <a:off x="5648960" y="2836552"/>
            <a:ext cx="3061989" cy="13234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Mimicking this in </a:t>
            </a:r>
          </a:p>
          <a:p>
            <a:pPr algn="ctr"/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Curiosity-Driven Exploration</a:t>
            </a:r>
          </a:p>
        </p:txBody>
      </p:sp>
    </p:spTree>
    <p:extLst>
      <p:ext uri="{BB962C8B-B14F-4D97-AF65-F5344CB8AC3E}">
        <p14:creationId xmlns:p14="http://schemas.microsoft.com/office/powerpoint/2010/main" val="1568352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 and Motivation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9B180-4F8A-2D46-9BEB-518A65B690AD}"/>
              </a:ext>
            </a:extLst>
          </p:cNvPr>
          <p:cNvSpPr txBox="1"/>
          <p:nvPr/>
        </p:nvSpPr>
        <p:spPr>
          <a:xfrm>
            <a:off x="342226" y="875679"/>
            <a:ext cx="67331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Inspiration from the work of Psychologist </a:t>
            </a:r>
            <a:r>
              <a:rPr lang="de-DE" sz="2000" dirty="0" err="1"/>
              <a:t>Vygotsky</a:t>
            </a:r>
            <a:r>
              <a:rPr lang="de-DE" sz="2000" dirty="0"/>
              <a:t>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Scaffolded learning aided by a social </a:t>
            </a:r>
            <a:br>
              <a:rPr lang="en-US" sz="2000" dirty="0"/>
            </a:br>
            <a:r>
              <a:rPr lang="en-US" sz="2000" dirty="0"/>
              <a:t>partner.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Parent-Child learning dynamics is </a:t>
            </a:r>
            <a:br>
              <a:rPr lang="en-US" sz="2000" dirty="0"/>
            </a:br>
            <a:r>
              <a:rPr lang="en-US" sz="2000" dirty="0"/>
              <a:t>mimicked.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7C76B2-9AAD-B848-8E47-9FFB0A09F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009" y="778677"/>
            <a:ext cx="2746663" cy="250232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14F38C7-327B-B644-9E8C-54DF7B4C6BEF}"/>
              </a:ext>
            </a:extLst>
          </p:cNvPr>
          <p:cNvSpPr txBox="1"/>
          <p:nvPr/>
        </p:nvSpPr>
        <p:spPr>
          <a:xfrm>
            <a:off x="8605814" y="513444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[2]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37965B-7A0F-8644-AB46-00B044FAC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964" y="2873655"/>
            <a:ext cx="2819400" cy="21145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C4542A8-807D-3E43-8E91-3082C0A8F7E1}"/>
              </a:ext>
            </a:extLst>
          </p:cNvPr>
          <p:cNvSpPr txBox="1"/>
          <p:nvPr/>
        </p:nvSpPr>
        <p:spPr>
          <a:xfrm>
            <a:off x="5667731" y="4481357"/>
            <a:ext cx="281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[3] – A building scaffolded for construction or repair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7708079-263C-DC43-A988-32B08B456D38}"/>
              </a:ext>
            </a:extLst>
          </p:cNvPr>
          <p:cNvSpPr/>
          <p:nvPr/>
        </p:nvSpPr>
        <p:spPr bwMode="auto">
          <a:xfrm>
            <a:off x="228600" y="2919043"/>
            <a:ext cx="2248719" cy="175280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Mimicking - 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Language is used as a medium of Scaffolding</a:t>
            </a:r>
          </a:p>
        </p:txBody>
      </p:sp>
    </p:spTree>
    <p:extLst>
      <p:ext uri="{BB962C8B-B14F-4D97-AF65-F5344CB8AC3E}">
        <p14:creationId xmlns:p14="http://schemas.microsoft.com/office/powerpoint/2010/main" val="2867639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543"/>
            <a:ext cx="8545672" cy="523220"/>
          </a:xfrm>
        </p:spPr>
        <p:txBody>
          <a:bodyPr/>
          <a:lstStyle/>
          <a:p>
            <a:r>
              <a:rPr lang="en-US" dirty="0"/>
              <a:t>What is being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95350"/>
            <a:ext cx="8534400" cy="3943350"/>
          </a:xfrm>
        </p:spPr>
        <p:txBody>
          <a:bodyPr/>
          <a:lstStyle/>
          <a:p>
            <a:r>
              <a:rPr lang="en-US" sz="2000" dirty="0"/>
              <a:t>Accomplishing a goal is a 2 step process. (Simplified)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/>
          </a:p>
          <a:p>
            <a:r>
              <a:rPr lang="de-DE" sz="2000" dirty="0"/>
              <a:t>2 </a:t>
            </a:r>
            <a:r>
              <a:rPr lang="de-DE" sz="2000" dirty="0" err="1"/>
              <a:t>types</a:t>
            </a:r>
            <a:r>
              <a:rPr lang="de-DE" sz="2000" dirty="0"/>
              <a:t> (</a:t>
            </a:r>
            <a:r>
              <a:rPr lang="de-DE" sz="2000" dirty="0" err="1"/>
              <a:t>levels</a:t>
            </a:r>
            <a:r>
              <a:rPr lang="de-DE" sz="2000" dirty="0"/>
              <a:t>)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generalization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a Multi </a:t>
            </a:r>
            <a:r>
              <a:rPr lang="de-DE" sz="2000" dirty="0" err="1"/>
              <a:t>Skilled</a:t>
            </a:r>
            <a:r>
              <a:rPr lang="de-DE" sz="2000" dirty="0"/>
              <a:t> </a:t>
            </a:r>
            <a:r>
              <a:rPr lang="de-DE" sz="2000" dirty="0" err="1"/>
              <a:t>agent</a:t>
            </a:r>
            <a:endParaRPr lang="de-DE" sz="2000" dirty="0"/>
          </a:p>
          <a:p>
            <a:pPr lvl="1"/>
            <a:r>
              <a:rPr lang="de-DE" sz="1400" dirty="0"/>
              <a:t>Goal </a:t>
            </a:r>
            <a:r>
              <a:rPr lang="de-DE" sz="1400" dirty="0" err="1"/>
              <a:t>Generalization</a:t>
            </a:r>
            <a:r>
              <a:rPr lang="de-DE" sz="1400" dirty="0"/>
              <a:t>. (G-G)</a:t>
            </a:r>
          </a:p>
          <a:p>
            <a:pPr lvl="1"/>
            <a:r>
              <a:rPr lang="de-DE" sz="1400" dirty="0"/>
              <a:t>State-Space </a:t>
            </a:r>
            <a:r>
              <a:rPr lang="de-DE" sz="1400" dirty="0" err="1"/>
              <a:t>Generalization</a:t>
            </a:r>
            <a:r>
              <a:rPr lang="de-DE" sz="1400" dirty="0"/>
              <a:t>. (SS-G)</a:t>
            </a:r>
          </a:p>
          <a:p>
            <a:pPr lvl="1"/>
            <a:r>
              <a:rPr lang="de-DE" sz="1400" dirty="0" err="1"/>
              <a:t>Eg</a:t>
            </a:r>
            <a:r>
              <a:rPr lang="de-DE" sz="1400" dirty="0"/>
              <a:t>: </a:t>
            </a:r>
            <a:r>
              <a:rPr lang="de-DE" sz="1400" dirty="0" err="1"/>
              <a:t>When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state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an </a:t>
            </a:r>
            <a:r>
              <a:rPr lang="de-DE" sz="1400" dirty="0" err="1"/>
              <a:t>evironment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</a:t>
            </a:r>
            <a:r>
              <a:rPr lang="de-DE" sz="1400" dirty="0" err="1"/>
              <a:t>its</a:t>
            </a:r>
            <a:r>
              <a:rPr lang="de-DE" sz="1400" dirty="0"/>
              <a:t> </a:t>
            </a:r>
            <a:r>
              <a:rPr lang="de-DE" sz="1400" dirty="0" err="1"/>
              <a:t>object</a:t>
            </a:r>
            <a:r>
              <a:rPr lang="de-DE" sz="1400" dirty="0"/>
              <a:t> </a:t>
            </a:r>
            <a:r>
              <a:rPr lang="de-DE" sz="1400" dirty="0" err="1"/>
              <a:t>location</a:t>
            </a:r>
            <a:r>
              <a:rPr lang="de-DE" sz="1400" dirty="0"/>
              <a:t> in </a:t>
            </a:r>
            <a:r>
              <a:rPr lang="de-DE" sz="1400" dirty="0" err="1"/>
              <a:t>the</a:t>
            </a:r>
            <a:r>
              <a:rPr lang="de-DE" sz="1400" dirty="0"/>
              <a:t> (</a:t>
            </a:r>
            <a:r>
              <a:rPr lang="de-DE" sz="1400" dirty="0" err="1"/>
              <a:t>x,y</a:t>
            </a:r>
            <a:r>
              <a:rPr lang="de-DE" sz="1400" dirty="0"/>
              <a:t>) plane</a:t>
            </a:r>
          </a:p>
          <a:p>
            <a:endParaRPr lang="de-DE" sz="1700" dirty="0"/>
          </a:p>
          <a:p>
            <a:endParaRPr lang="de-DE" sz="1700" dirty="0"/>
          </a:p>
          <a:p>
            <a:endParaRPr lang="de-DE" sz="1700" dirty="0"/>
          </a:p>
          <a:p>
            <a:r>
              <a:rPr lang="de-DE" sz="1700" dirty="0" err="1"/>
              <a:t>Both</a:t>
            </a:r>
            <a:r>
              <a:rPr lang="de-DE" sz="1700" dirty="0"/>
              <a:t> </a:t>
            </a:r>
            <a:r>
              <a:rPr lang="de-DE" sz="1700" dirty="0" err="1"/>
              <a:t>require</a:t>
            </a:r>
            <a:r>
              <a:rPr lang="de-DE" sz="1700" dirty="0"/>
              <a:t> </a:t>
            </a:r>
            <a:r>
              <a:rPr lang="de-DE" sz="1700" dirty="0" err="1"/>
              <a:t>exploration</a:t>
            </a:r>
            <a:r>
              <a:rPr lang="de-DE" sz="1700" dirty="0"/>
              <a:t> in </a:t>
            </a:r>
            <a:r>
              <a:rPr lang="de-DE" sz="1700" dirty="0" err="1"/>
              <a:t>their</a:t>
            </a:r>
            <a:r>
              <a:rPr lang="de-DE" sz="1700" dirty="0"/>
              <a:t> </a:t>
            </a:r>
            <a:r>
              <a:rPr lang="de-DE" sz="1700" dirty="0" err="1"/>
              <a:t>respective</a:t>
            </a:r>
            <a:r>
              <a:rPr lang="de-DE" sz="1700" dirty="0"/>
              <a:t> </a:t>
            </a:r>
            <a:r>
              <a:rPr lang="de-DE" sz="1700" dirty="0" err="1"/>
              <a:t>spaces</a:t>
            </a:r>
            <a:r>
              <a:rPr lang="de-DE" sz="1700" dirty="0"/>
              <a:t>.</a:t>
            </a:r>
          </a:p>
          <a:p>
            <a:pPr marL="457200" lvl="1" indent="0">
              <a:buNone/>
            </a:pPr>
            <a:endParaRPr lang="de-DE" sz="17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1BD7EC-2CBB-9A4D-9F08-F0AB1C298204}"/>
              </a:ext>
            </a:extLst>
          </p:cNvPr>
          <p:cNvSpPr/>
          <p:nvPr/>
        </p:nvSpPr>
        <p:spPr bwMode="auto">
          <a:xfrm>
            <a:off x="882426" y="1449705"/>
            <a:ext cx="2622774" cy="817245"/>
          </a:xfrm>
          <a:prstGeom prst="roundRect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r>
              <a:rPr lang="en-US" sz="1400" dirty="0"/>
              <a:t>Understand what “Task” to do.</a:t>
            </a:r>
          </a:p>
          <a:p>
            <a:r>
              <a:rPr lang="en-US" sz="1400" dirty="0"/>
              <a:t>(Main Focus of the paper)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2D11F5-D428-1643-B019-411CE856FD0D}"/>
              </a:ext>
            </a:extLst>
          </p:cNvPr>
          <p:cNvSpPr/>
          <p:nvPr/>
        </p:nvSpPr>
        <p:spPr bwMode="auto">
          <a:xfrm>
            <a:off x="4806236" y="1449705"/>
            <a:ext cx="2356564" cy="817245"/>
          </a:xfrm>
          <a:prstGeom prst="roundRect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pPr algn="ctr"/>
            <a:r>
              <a:rPr lang="en-US" sz="1400" dirty="0"/>
              <a:t>Complete the objective Task.</a:t>
            </a:r>
          </a:p>
          <a:p>
            <a:pPr algn="ctr"/>
            <a:r>
              <a:rPr lang="en-US" sz="1400" dirty="0"/>
              <a:t>(Done by Deep RL)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B90907-FFC0-A64F-8235-F061FA01D07C}"/>
              </a:ext>
            </a:extLst>
          </p:cNvPr>
          <p:cNvCxnSpPr>
            <a:cxnSpLocks/>
          </p:cNvCxnSpPr>
          <p:nvPr/>
        </p:nvCxnSpPr>
        <p:spPr bwMode="auto">
          <a:xfrm>
            <a:off x="3505200" y="1858328"/>
            <a:ext cx="1301036" cy="0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E29078CA-D184-1A46-818A-5868C67F08E5}"/>
              </a:ext>
            </a:extLst>
          </p:cNvPr>
          <p:cNvSpPr/>
          <p:nvPr/>
        </p:nvSpPr>
        <p:spPr bwMode="auto">
          <a:xfrm>
            <a:off x="108473" y="3825805"/>
            <a:ext cx="1937273" cy="605909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>
            <a:spAutoFit/>
          </a:bodyPr>
          <a:lstStyle/>
          <a:p>
            <a:pPr algn="ctr"/>
            <a:r>
              <a:rPr lang="en-US" sz="1100" dirty="0"/>
              <a:t>Move Chair </a:t>
            </a:r>
          </a:p>
          <a:p>
            <a:pPr algn="ctr"/>
            <a:r>
              <a:rPr lang="en-US" sz="1100" b="1" dirty="0"/>
              <a:t>(1,0) </a:t>
            </a:r>
            <a:r>
              <a:rPr lang="en-US" sz="1100" b="1" dirty="0">
                <a:sym typeface="Wingdings" pitchFamily="2" charset="2"/>
              </a:rPr>
              <a:t></a:t>
            </a:r>
            <a:r>
              <a:rPr lang="en-US" sz="1100" b="1" dirty="0"/>
              <a:t> (3,3)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DD138DF-68FB-2A4A-867E-27189D9B8315}"/>
              </a:ext>
            </a:extLst>
          </p:cNvPr>
          <p:cNvSpPr/>
          <p:nvPr/>
        </p:nvSpPr>
        <p:spPr bwMode="auto">
          <a:xfrm>
            <a:off x="2667000" y="3821108"/>
            <a:ext cx="1752600" cy="605909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rtlCol="0" anchor="ctr">
            <a:spAutoFit/>
          </a:bodyPr>
          <a:lstStyle/>
          <a:p>
            <a:pPr algn="ctr"/>
            <a:r>
              <a:rPr lang="en-US" sz="1100" dirty="0"/>
              <a:t>Move Chair </a:t>
            </a:r>
          </a:p>
          <a:p>
            <a:pPr algn="ctr"/>
            <a:r>
              <a:rPr lang="en-US" sz="1100" b="1" dirty="0"/>
              <a:t>(4,5) </a:t>
            </a:r>
            <a:r>
              <a:rPr lang="en-US" sz="1100" b="1" dirty="0">
                <a:sym typeface="Wingdings" pitchFamily="2" charset="2"/>
              </a:rPr>
              <a:t></a:t>
            </a:r>
            <a:r>
              <a:rPr lang="en-US" sz="1100" b="1" dirty="0"/>
              <a:t> (0,0)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F526745-9074-764C-AC2A-00FE733217FE}"/>
              </a:ext>
            </a:extLst>
          </p:cNvPr>
          <p:cNvCxnSpPr>
            <a:cxnSpLocks/>
            <a:stCxn id="32" idx="6"/>
            <a:endCxn id="34" idx="2"/>
          </p:cNvCxnSpPr>
          <p:nvPr/>
        </p:nvCxnSpPr>
        <p:spPr bwMode="auto">
          <a:xfrm flipV="1">
            <a:off x="2045746" y="4124063"/>
            <a:ext cx="621254" cy="4697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DB1AE56-C176-014D-9C3A-76D51A6A5D0B}"/>
              </a:ext>
            </a:extLst>
          </p:cNvPr>
          <p:cNvSpPr txBox="1"/>
          <p:nvPr/>
        </p:nvSpPr>
        <p:spPr>
          <a:xfrm>
            <a:off x="2032299" y="3841781"/>
            <a:ext cx="685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SS - G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079389B-026E-C441-9DEF-6D9A597D8B1B}"/>
              </a:ext>
            </a:extLst>
          </p:cNvPr>
          <p:cNvSpPr/>
          <p:nvPr/>
        </p:nvSpPr>
        <p:spPr bwMode="auto">
          <a:xfrm>
            <a:off x="4604273" y="3790950"/>
            <a:ext cx="1600200" cy="605909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pPr algn="ctr"/>
            <a:r>
              <a:rPr lang="en-US" sz="1100" b="1" dirty="0"/>
              <a:t>Move Chair </a:t>
            </a:r>
          </a:p>
          <a:p>
            <a:pPr algn="ctr"/>
            <a:r>
              <a:rPr lang="en-US" sz="1100" dirty="0"/>
              <a:t>(1,0) </a:t>
            </a:r>
            <a:r>
              <a:rPr lang="en-US" sz="1100" dirty="0">
                <a:sym typeface="Wingdings" pitchFamily="2" charset="2"/>
              </a:rPr>
              <a:t></a:t>
            </a:r>
            <a:r>
              <a:rPr lang="en-US" sz="1100" dirty="0"/>
              <a:t> (3,3)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CCA3E0F-A2A5-FA46-9A02-741856CD3074}"/>
              </a:ext>
            </a:extLst>
          </p:cNvPr>
          <p:cNvSpPr/>
          <p:nvPr/>
        </p:nvSpPr>
        <p:spPr bwMode="auto">
          <a:xfrm>
            <a:off x="7120218" y="3831100"/>
            <a:ext cx="1600200" cy="605909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pPr algn="ctr"/>
            <a:r>
              <a:rPr lang="en-US" sz="1100" b="1" dirty="0"/>
              <a:t>Move Table </a:t>
            </a:r>
          </a:p>
          <a:p>
            <a:pPr algn="ctr"/>
            <a:r>
              <a:rPr lang="en-US" sz="1100" dirty="0"/>
              <a:t>(1,0) </a:t>
            </a:r>
            <a:r>
              <a:rPr lang="en-US" sz="1100" dirty="0">
                <a:sym typeface="Wingdings" pitchFamily="2" charset="2"/>
              </a:rPr>
              <a:t></a:t>
            </a:r>
            <a:r>
              <a:rPr lang="en-US" sz="1100" dirty="0"/>
              <a:t> (3,3)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1973C7-C4C7-F94E-A1EA-767FF553312B}"/>
              </a:ext>
            </a:extLst>
          </p:cNvPr>
          <p:cNvSpPr txBox="1"/>
          <p:nvPr/>
        </p:nvSpPr>
        <p:spPr>
          <a:xfrm>
            <a:off x="6324600" y="3834140"/>
            <a:ext cx="685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 - G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EBB568-88BE-0E48-9893-11395A04FC28}"/>
              </a:ext>
            </a:extLst>
          </p:cNvPr>
          <p:cNvCxnSpPr>
            <a:cxnSpLocks/>
            <a:stCxn id="41" idx="6"/>
          </p:cNvCxnSpPr>
          <p:nvPr/>
        </p:nvCxnSpPr>
        <p:spPr bwMode="auto">
          <a:xfrm>
            <a:off x="6204473" y="4093905"/>
            <a:ext cx="907452" cy="17255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342060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8827"/>
            <a:ext cx="8545672" cy="523220"/>
          </a:xfrm>
        </p:spPr>
        <p:txBody>
          <a:bodyPr/>
          <a:lstStyle/>
          <a:p>
            <a:r>
              <a:rPr lang="en-US" dirty="0"/>
              <a:t>Goal exploration (Previous 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652577"/>
                <a:ext cx="8534400" cy="36189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de-DE" sz="2000" dirty="0"/>
              </a:p>
              <a:p>
                <a:r>
                  <a:rPr lang="de-DE" sz="2000" dirty="0" err="1"/>
                  <a:t>We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have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following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challenges</a:t>
                </a:r>
                <a:endParaRPr lang="de-DE" sz="2000" dirty="0"/>
              </a:p>
              <a:p>
                <a:pPr lvl="1"/>
                <a:r>
                  <a:rPr lang="de-DE" sz="1700" dirty="0" err="1"/>
                  <a:t>How</a:t>
                </a:r>
                <a:r>
                  <a:rPr lang="de-DE" sz="1700" dirty="0"/>
                  <a:t> </a:t>
                </a:r>
                <a:r>
                  <a:rPr lang="de-DE" sz="1700" dirty="0" err="1"/>
                  <a:t>to</a:t>
                </a:r>
                <a:r>
                  <a:rPr lang="de-DE" sz="1700" dirty="0"/>
                  <a:t> </a:t>
                </a:r>
                <a:r>
                  <a:rPr lang="de-DE" sz="1700" dirty="0" err="1"/>
                  <a:t>represent</a:t>
                </a:r>
                <a:r>
                  <a:rPr lang="de-DE" sz="1700" dirty="0"/>
                  <a:t> </a:t>
                </a:r>
                <a:r>
                  <a:rPr lang="de-DE" sz="1700" dirty="0" err="1"/>
                  <a:t>these</a:t>
                </a:r>
                <a:r>
                  <a:rPr lang="de-DE" sz="1700" dirty="0"/>
                  <a:t> </a:t>
                </a:r>
                <a:r>
                  <a:rPr lang="de-DE" sz="1700" dirty="0" err="1"/>
                  <a:t>goals</a:t>
                </a:r>
                <a:r>
                  <a:rPr lang="de-DE" sz="1700" dirty="0"/>
                  <a:t> </a:t>
                </a:r>
                <a:r>
                  <a:rPr lang="de-DE" sz="1700" dirty="0" err="1"/>
                  <a:t>for</a:t>
                </a:r>
                <a:r>
                  <a:rPr lang="de-DE" sz="1700" dirty="0"/>
                  <a:t> </a:t>
                </a:r>
                <a:r>
                  <a:rPr lang="de-DE" sz="1700" dirty="0" err="1"/>
                  <a:t>our</a:t>
                </a:r>
                <a:r>
                  <a:rPr lang="de-DE" sz="1700" dirty="0"/>
                  <a:t> RL </a:t>
                </a:r>
                <a:r>
                  <a:rPr lang="de-DE" sz="1700" dirty="0" err="1"/>
                  <a:t>problem</a:t>
                </a:r>
                <a:r>
                  <a:rPr lang="de-DE" sz="1700" dirty="0"/>
                  <a:t>?</a:t>
                </a:r>
              </a:p>
              <a:p>
                <a:pPr lvl="1"/>
                <a:r>
                  <a:rPr lang="de-DE" sz="1700" dirty="0" err="1"/>
                  <a:t>How</a:t>
                </a:r>
                <a:r>
                  <a:rPr lang="de-DE" sz="1700" dirty="0"/>
                  <a:t> </a:t>
                </a:r>
                <a:r>
                  <a:rPr lang="de-DE" sz="1700" dirty="0" err="1"/>
                  <a:t>to</a:t>
                </a:r>
                <a:r>
                  <a:rPr lang="de-DE" sz="1700" dirty="0"/>
                  <a:t> </a:t>
                </a:r>
                <a:r>
                  <a:rPr lang="de-DE" sz="1700" dirty="0" err="1"/>
                  <a:t>explore</a:t>
                </a:r>
                <a:r>
                  <a:rPr lang="de-DE" sz="1700" dirty="0"/>
                  <a:t> in </a:t>
                </a:r>
                <a:r>
                  <a:rPr lang="de-DE" sz="1700" dirty="0" err="1"/>
                  <a:t>the</a:t>
                </a:r>
                <a:r>
                  <a:rPr lang="de-DE" sz="1700" dirty="0"/>
                  <a:t> </a:t>
                </a:r>
                <a:r>
                  <a:rPr lang="de-DE" sz="1700" dirty="0" err="1"/>
                  <a:t>goal</a:t>
                </a:r>
                <a:r>
                  <a:rPr lang="de-DE" sz="1700" dirty="0"/>
                  <a:t> </a:t>
                </a:r>
                <a:r>
                  <a:rPr lang="de-DE" sz="1700" dirty="0" err="1"/>
                  <a:t>space</a:t>
                </a:r>
                <a:r>
                  <a:rPr lang="de-DE" sz="1700" dirty="0"/>
                  <a:t>?</a:t>
                </a:r>
              </a:p>
              <a:p>
                <a:r>
                  <a:rPr lang="de-DE" sz="2000" dirty="0" err="1"/>
                  <a:t>Previous</a:t>
                </a:r>
                <a:r>
                  <a:rPr lang="de-DE" sz="2000" dirty="0"/>
                  <a:t> </a:t>
                </a:r>
                <a:r>
                  <a:rPr lang="de-DE" sz="2000" dirty="0" err="1"/>
                  <a:t>works</a:t>
                </a:r>
                <a:endParaRPr lang="de-DE" sz="2000" dirty="0"/>
              </a:p>
              <a:p>
                <a:pPr lvl="1"/>
                <a:r>
                  <a:rPr lang="de-DE" sz="1700" dirty="0" err="1"/>
                  <a:t>Represented</a:t>
                </a:r>
                <a:r>
                  <a:rPr lang="de-DE" sz="1700" dirty="0"/>
                  <a:t> </a:t>
                </a:r>
                <a:r>
                  <a:rPr lang="de-DE" sz="1700" dirty="0" err="1"/>
                  <a:t>the</a:t>
                </a:r>
                <a:r>
                  <a:rPr lang="de-DE" sz="1700" dirty="0"/>
                  <a:t> </a:t>
                </a:r>
                <a:r>
                  <a:rPr lang="de-DE" sz="1700" dirty="0" err="1"/>
                  <a:t>goals</a:t>
                </a:r>
                <a:r>
                  <a:rPr lang="de-DE" sz="1700" dirty="0"/>
                  <a:t> </a:t>
                </a:r>
                <a:r>
                  <a:rPr lang="de-DE" sz="1700" dirty="0" err="1"/>
                  <a:t>as</a:t>
                </a:r>
                <a:r>
                  <a:rPr lang="de-DE" sz="1700" dirty="0"/>
                  <a:t>: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de-DE" sz="1700" dirty="0"/>
              </a:p>
              <a:p>
                <a:pPr lvl="1"/>
                <a:r>
                  <a:rPr lang="de-DE" sz="1700" dirty="0"/>
                  <a:t>A </a:t>
                </a:r>
                <a:r>
                  <a:rPr lang="de-DE" sz="1700" dirty="0" err="1"/>
                  <a:t>set</a:t>
                </a:r>
                <a:r>
                  <a:rPr lang="de-DE" sz="1700" dirty="0"/>
                  <a:t> </a:t>
                </a:r>
                <a:r>
                  <a:rPr lang="de-DE" sz="1700" dirty="0" err="1"/>
                  <a:t>of</a:t>
                </a:r>
                <a:r>
                  <a:rPr lang="de-DE" sz="1700" dirty="0"/>
                  <a:t> </a:t>
                </a:r>
                <a:r>
                  <a:rPr lang="de-DE" sz="1700" dirty="0" err="1"/>
                  <a:t>known</a:t>
                </a:r>
                <a:r>
                  <a:rPr lang="de-DE" sz="1700" dirty="0"/>
                  <a:t> Goals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de-DE" sz="1700" dirty="0"/>
                  <a:t>, </a:t>
                </a:r>
                <a:r>
                  <a:rPr lang="de-DE" sz="1700" dirty="0" err="1"/>
                  <a:t>were</a:t>
                </a:r>
                <a:r>
                  <a:rPr lang="de-DE" sz="1700" dirty="0"/>
                  <a:t> </a:t>
                </a:r>
                <a:r>
                  <a:rPr lang="de-DE" sz="1700" dirty="0" err="1"/>
                  <a:t>used</a:t>
                </a:r>
                <a:r>
                  <a:rPr lang="de-DE" sz="1700" dirty="0"/>
                  <a:t> </a:t>
                </a:r>
                <a:r>
                  <a:rPr lang="de-DE" sz="1700" dirty="0" err="1"/>
                  <a:t>to</a:t>
                </a:r>
                <a:r>
                  <a:rPr lang="de-DE" sz="1700" dirty="0"/>
                  <a:t> </a:t>
                </a:r>
                <a:r>
                  <a:rPr lang="de-DE" sz="1700" dirty="0" err="1"/>
                  <a:t>train</a:t>
                </a:r>
                <a:r>
                  <a:rPr lang="de-DE" sz="1700" dirty="0"/>
                  <a:t> </a:t>
                </a:r>
                <a:r>
                  <a:rPr lang="de-DE" sz="1700" b="1" i="1" dirty="0"/>
                  <a:t>Goal Generators </a:t>
                </a:r>
                <a:r>
                  <a:rPr lang="de-DE" sz="1700" dirty="0" err="1"/>
                  <a:t>using</a:t>
                </a:r>
                <a:r>
                  <a:rPr lang="de-DE" sz="1700" dirty="0"/>
                  <a:t> </a:t>
                </a:r>
                <a:r>
                  <a:rPr lang="de-DE" sz="1700" i="1" dirty="0"/>
                  <a:t>GANs</a:t>
                </a:r>
                <a:r>
                  <a:rPr lang="de-DE" sz="1700" dirty="0"/>
                  <a:t> </a:t>
                </a:r>
                <a:r>
                  <a:rPr lang="de-DE" sz="1700" dirty="0" err="1"/>
                  <a:t>and</a:t>
                </a:r>
                <a:r>
                  <a:rPr lang="de-DE" sz="1700" dirty="0"/>
                  <a:t> </a:t>
                </a:r>
                <a:r>
                  <a:rPr lang="de-DE" sz="1700" i="1" dirty="0" err="1"/>
                  <a:t>Variational</a:t>
                </a:r>
                <a:r>
                  <a:rPr lang="de-DE" sz="1700" i="1" dirty="0"/>
                  <a:t> Auto-Encoders</a:t>
                </a:r>
                <a:r>
                  <a:rPr lang="de-DE" sz="1700" dirty="0"/>
                  <a:t>.</a:t>
                </a:r>
              </a:p>
              <a:p>
                <a:pPr lvl="1"/>
                <a:r>
                  <a:rPr lang="de-DE" sz="1700" dirty="0" err="1"/>
                  <a:t>To</a:t>
                </a:r>
                <a:r>
                  <a:rPr lang="de-DE" sz="1700" dirty="0"/>
                  <a:t> </a:t>
                </a:r>
                <a:r>
                  <a:rPr lang="de-DE" sz="1700" dirty="0" err="1"/>
                  <a:t>explore</a:t>
                </a:r>
                <a:r>
                  <a:rPr lang="de-DE" sz="1700" dirty="0"/>
                  <a:t> </a:t>
                </a:r>
                <a:r>
                  <a:rPr lang="de-DE" sz="1700" dirty="0" err="1"/>
                  <a:t>the</a:t>
                </a:r>
                <a:r>
                  <a:rPr lang="de-DE" sz="1700" dirty="0"/>
                  <a:t> Goals - </a:t>
                </a:r>
                <a:r>
                  <a:rPr lang="de-DE" sz="1700" dirty="0" err="1"/>
                  <a:t>Generated</a:t>
                </a:r>
                <a:r>
                  <a:rPr lang="de-DE" sz="1700" dirty="0"/>
                  <a:t> </a:t>
                </a:r>
                <a:r>
                  <a:rPr lang="de-DE" sz="1700" dirty="0" err="1"/>
                  <a:t>goals</a:t>
                </a:r>
                <a:r>
                  <a:rPr lang="de-DE" sz="1700" dirty="0"/>
                  <a:t> </a:t>
                </a:r>
                <a:r>
                  <a:rPr lang="de-DE" sz="1700" dirty="0" err="1"/>
                  <a:t>using</a:t>
                </a:r>
                <a:r>
                  <a:rPr lang="de-DE" sz="1700" dirty="0"/>
                  <a:t> </a:t>
                </a:r>
                <a:r>
                  <a:rPr lang="de-DE" sz="1700" dirty="0" err="1"/>
                  <a:t>these</a:t>
                </a:r>
                <a:r>
                  <a:rPr lang="de-DE" sz="1700" dirty="0"/>
                  <a:t> </a:t>
                </a:r>
                <a:r>
                  <a:rPr lang="de-DE" sz="1700" i="1" dirty="0"/>
                  <a:t>Goal Generators</a:t>
                </a:r>
                <a:r>
                  <a:rPr lang="de-DE" sz="1700" dirty="0"/>
                  <a:t> </a:t>
                </a:r>
                <a:r>
                  <a:rPr lang="de-DE" sz="1700" dirty="0" err="1"/>
                  <a:t>were</a:t>
                </a:r>
                <a:r>
                  <a:rPr lang="de-DE" sz="1700" dirty="0"/>
                  <a:t> </a:t>
                </a:r>
                <a:r>
                  <a:rPr lang="de-DE" sz="1700" dirty="0" err="1"/>
                  <a:t>used</a:t>
                </a:r>
                <a:r>
                  <a:rPr lang="de-DE" sz="1700" dirty="0"/>
                  <a:t>.</a:t>
                </a:r>
              </a:p>
              <a:p>
                <a:r>
                  <a:rPr lang="de-DE" sz="2000" dirty="0"/>
                  <a:t>Limitation - The </a:t>
                </a:r>
                <a:r>
                  <a:rPr lang="de-DE" sz="2000" dirty="0" err="1"/>
                  <a:t>generalization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only</a:t>
                </a:r>
                <a:r>
                  <a:rPr lang="de-DE" sz="2000" dirty="0"/>
                  <a:t> </a:t>
                </a:r>
                <a:r>
                  <a:rPr lang="de-DE" sz="2000" dirty="0" err="1"/>
                  <a:t>possible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within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known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distribution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</a:t>
                </a:r>
                <a:r>
                  <a:rPr lang="de-DE" sz="2000" dirty="0" err="1"/>
                  <a:t>goal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space</a:t>
                </a:r>
                <a:r>
                  <a:rPr lang="de-DE" sz="2000" dirty="0"/>
                  <a:t>.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652577"/>
                <a:ext cx="8534400" cy="361890"/>
              </a:xfrm>
              <a:blipFill>
                <a:blip r:embed="rId3"/>
                <a:stretch>
                  <a:fillRect l="-594" b="-9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8681559-2B39-0C49-BDDE-E252E442D15A}"/>
              </a:ext>
            </a:extLst>
          </p:cNvPr>
          <p:cNvSpPr/>
          <p:nvPr/>
        </p:nvSpPr>
        <p:spPr bwMode="auto">
          <a:xfrm>
            <a:off x="7399725" y="312058"/>
            <a:ext cx="1371600" cy="340519"/>
          </a:xfrm>
          <a:prstGeom prst="roundRect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r>
              <a:rPr lang="en-US" sz="1400" dirty="0"/>
              <a:t>Imagination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71E9EE8-79DC-E14B-94A8-3DD22C3BD2F6}"/>
              </a:ext>
            </a:extLst>
          </p:cNvPr>
          <p:cNvSpPr/>
          <p:nvPr/>
        </p:nvSpPr>
        <p:spPr bwMode="auto">
          <a:xfrm>
            <a:off x="7397036" y="692182"/>
            <a:ext cx="1447800" cy="432792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pPr algn="ctr"/>
            <a:r>
              <a:rPr lang="en-US" sz="1400" dirty="0"/>
              <a:t>Curiosity</a:t>
            </a:r>
          </a:p>
        </p:txBody>
      </p:sp>
    </p:spTree>
    <p:extLst>
      <p:ext uri="{BB962C8B-B14F-4D97-AF65-F5344CB8AC3E}">
        <p14:creationId xmlns:p14="http://schemas.microsoft.com/office/powerpoint/2010/main" val="1850726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553" y="149880"/>
            <a:ext cx="8545672" cy="523220"/>
          </a:xfrm>
        </p:spPr>
        <p:txBody>
          <a:bodyPr/>
          <a:lstStyle/>
          <a:p>
            <a:r>
              <a:rPr lang="en-US" dirty="0"/>
              <a:t>Proposed agent architecture [4]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799" y="937796"/>
            <a:ext cx="2286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Encoder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3233056" y="937796"/>
            <a:ext cx="1643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err="1"/>
              <a:t>eASPP</a:t>
            </a:r>
            <a:endParaRPr lang="en-US" sz="1600"/>
          </a:p>
        </p:txBody>
      </p:sp>
      <p:sp>
        <p:nvSpPr>
          <p:cNvPr id="16" name="TextBox 15"/>
          <p:cNvSpPr txBox="1"/>
          <p:nvPr/>
        </p:nvSpPr>
        <p:spPr>
          <a:xfrm>
            <a:off x="4876800" y="937796"/>
            <a:ext cx="3276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Decoder</a:t>
            </a:r>
            <a:endParaRPr lang="en-US" sz="1800" dirty="0"/>
          </a:p>
        </p:txBody>
      </p:sp>
      <p:sp>
        <p:nvSpPr>
          <p:cNvPr id="17" name="TextBox 16"/>
          <p:cNvSpPr txBox="1"/>
          <p:nvPr/>
        </p:nvSpPr>
        <p:spPr>
          <a:xfrm>
            <a:off x="4648200" y="3071396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Skip Connections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541B0-5FC1-2A42-A5F4-6545344EF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49" y="713695"/>
            <a:ext cx="8178800" cy="43130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D1A29-2718-774C-B424-B61B07808406}"/>
              </a:ext>
            </a:extLst>
          </p:cNvPr>
          <p:cNvSpPr txBox="1"/>
          <p:nvPr/>
        </p:nvSpPr>
        <p:spPr>
          <a:xfrm>
            <a:off x="1534209" y="713695"/>
            <a:ext cx="7496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IMAGINE</a:t>
            </a:r>
            <a:r>
              <a:rPr lang="de-DE" sz="1400" dirty="0"/>
              <a:t> - </a:t>
            </a:r>
            <a:r>
              <a:rPr lang="de-DE" sz="1400" b="1" dirty="0" err="1"/>
              <a:t>I</a:t>
            </a:r>
            <a:r>
              <a:rPr lang="de-DE" sz="1400" dirty="0" err="1"/>
              <a:t>ntrinsic</a:t>
            </a:r>
            <a:r>
              <a:rPr lang="de-DE" sz="1400" dirty="0"/>
              <a:t> </a:t>
            </a:r>
            <a:r>
              <a:rPr lang="de-DE" sz="1400" b="1" dirty="0" err="1"/>
              <a:t>M</a:t>
            </a:r>
            <a:r>
              <a:rPr lang="de-DE" sz="1400" dirty="0" err="1"/>
              <a:t>otivations</a:t>
            </a:r>
            <a:r>
              <a:rPr lang="de-DE" sz="1400" dirty="0"/>
              <a:t> </a:t>
            </a:r>
            <a:r>
              <a:rPr lang="de-DE" sz="1400" b="1" dirty="0" err="1"/>
              <a:t>A</a:t>
            </a:r>
            <a:r>
              <a:rPr lang="de-DE" sz="1400" dirty="0" err="1"/>
              <a:t>nd</a:t>
            </a:r>
            <a:r>
              <a:rPr lang="de-DE" sz="1400" dirty="0"/>
              <a:t> </a:t>
            </a:r>
            <a:r>
              <a:rPr lang="de-DE" sz="1400" b="1" dirty="0"/>
              <a:t>G</a:t>
            </a:r>
            <a:r>
              <a:rPr lang="de-DE" sz="1400" dirty="0"/>
              <a:t>oal </a:t>
            </a:r>
            <a:r>
              <a:rPr lang="de-DE" sz="1400" b="1" dirty="0" err="1"/>
              <a:t>IN</a:t>
            </a:r>
            <a:r>
              <a:rPr lang="de-DE" sz="1400" dirty="0" err="1"/>
              <a:t>vention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b="1" dirty="0"/>
              <a:t>E</a:t>
            </a:r>
            <a:r>
              <a:rPr lang="de-DE" sz="1400" dirty="0"/>
              <a:t>xploration</a:t>
            </a:r>
          </a:p>
          <a:p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15C11-E044-BD46-A7A3-309D8AD0E240}"/>
              </a:ext>
            </a:extLst>
          </p:cNvPr>
          <p:cNvSpPr txBox="1"/>
          <p:nvPr/>
        </p:nvSpPr>
        <p:spPr>
          <a:xfrm>
            <a:off x="-8703" y="1192674"/>
            <a:ext cx="2066103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Intrinsic Motivations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27ADCE-2836-B441-922B-AA29864742B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032547" y="1500452"/>
            <a:ext cx="928121" cy="422854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08C568B-B57C-254F-8A29-0CCF35EDD6AB}"/>
              </a:ext>
            </a:extLst>
          </p:cNvPr>
          <p:cNvSpPr txBox="1"/>
          <p:nvPr/>
        </p:nvSpPr>
        <p:spPr>
          <a:xfrm>
            <a:off x="-8702" y="4355273"/>
            <a:ext cx="1542912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Social Partner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1CC63D-F7AD-4844-B93C-31005C918843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flipH="1">
            <a:off x="762754" y="4095750"/>
            <a:ext cx="1294646" cy="259523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02019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81000" y="895350"/>
            <a:ext cx="8534400" cy="361890"/>
          </a:xfrm>
        </p:spPr>
        <p:txBody>
          <a:bodyPr/>
          <a:lstStyle/>
          <a:p>
            <a:r>
              <a:rPr lang="de-DE" sz="2000" dirty="0"/>
              <a:t>The </a:t>
            </a:r>
            <a:r>
              <a:rPr lang="de-DE" sz="2000" dirty="0" err="1"/>
              <a:t>authors</a:t>
            </a:r>
            <a:r>
              <a:rPr lang="de-DE" sz="2000" dirty="0"/>
              <a:t> do not </a:t>
            </a:r>
            <a:r>
              <a:rPr lang="de-DE" sz="2000" dirty="0" err="1"/>
              <a:t>train</a:t>
            </a:r>
            <a:r>
              <a:rPr lang="de-DE" sz="2000" dirty="0"/>
              <a:t> a </a:t>
            </a:r>
            <a:r>
              <a:rPr lang="de-DE" sz="2000" dirty="0" err="1"/>
              <a:t>full</a:t>
            </a:r>
            <a:r>
              <a:rPr lang="de-DE" sz="2000" dirty="0"/>
              <a:t> </a:t>
            </a:r>
            <a:r>
              <a:rPr lang="de-DE" sz="2000" dirty="0" err="1"/>
              <a:t>blown</a:t>
            </a:r>
            <a:r>
              <a:rPr lang="de-DE" sz="2000" dirty="0"/>
              <a:t> Natural Language </a:t>
            </a:r>
            <a:r>
              <a:rPr lang="de-DE" sz="2000" dirty="0" err="1"/>
              <a:t>or</a:t>
            </a:r>
            <a:r>
              <a:rPr lang="de-DE" sz="2000" dirty="0"/>
              <a:t> </a:t>
            </a:r>
            <a:r>
              <a:rPr lang="de-DE" sz="2000" dirty="0" err="1"/>
              <a:t>Perception</a:t>
            </a:r>
            <a:r>
              <a:rPr lang="de-DE" sz="2000" dirty="0"/>
              <a:t> </a:t>
            </a:r>
            <a:r>
              <a:rPr lang="de-DE" sz="2000" dirty="0" err="1"/>
              <a:t>agent</a:t>
            </a:r>
            <a:r>
              <a:rPr lang="de-DE" sz="2000" dirty="0"/>
              <a:t>.</a:t>
            </a:r>
          </a:p>
          <a:p>
            <a:r>
              <a:rPr lang="de-DE" sz="2000" dirty="0" err="1"/>
              <a:t>They</a:t>
            </a:r>
            <a:r>
              <a:rPr lang="de-DE" sz="2000" dirty="0"/>
              <a:t> </a:t>
            </a:r>
            <a:r>
              <a:rPr lang="de-DE" sz="2000" dirty="0" err="1"/>
              <a:t>use</a:t>
            </a:r>
            <a:r>
              <a:rPr lang="de-DE" sz="2000" dirty="0"/>
              <a:t> a </a:t>
            </a:r>
            <a:r>
              <a:rPr lang="de-DE" sz="2000" dirty="0" err="1"/>
              <a:t>specialized</a:t>
            </a:r>
            <a:r>
              <a:rPr lang="de-DE" sz="2000" dirty="0"/>
              <a:t> </a:t>
            </a:r>
            <a:r>
              <a:rPr lang="de-DE" sz="2000" dirty="0" err="1"/>
              <a:t>environment</a:t>
            </a:r>
            <a:r>
              <a:rPr lang="de-DE" sz="2000" dirty="0"/>
              <a:t> </a:t>
            </a:r>
            <a:r>
              <a:rPr lang="de-DE" sz="2000" dirty="0" err="1"/>
              <a:t>called</a:t>
            </a:r>
            <a:r>
              <a:rPr lang="de-DE" sz="2000" dirty="0"/>
              <a:t> </a:t>
            </a:r>
            <a:r>
              <a:rPr lang="de-DE" sz="2000" b="1" dirty="0" err="1"/>
              <a:t>Playground</a:t>
            </a:r>
            <a:r>
              <a:rPr lang="de-DE" sz="2000" dirty="0"/>
              <a:t>.</a:t>
            </a:r>
          </a:p>
          <a:p>
            <a:r>
              <a:rPr lang="de-DE" sz="2000" b="1" dirty="0" err="1"/>
              <a:t>Playground</a:t>
            </a:r>
            <a:r>
              <a:rPr lang="de-DE" sz="2000" dirty="0"/>
              <a:t> </a:t>
            </a:r>
            <a:r>
              <a:rPr lang="de-DE" sz="2000" dirty="0" err="1"/>
              <a:t>can</a:t>
            </a:r>
            <a:r>
              <a:rPr lang="de-DE" sz="2000" dirty="0"/>
              <a:t> </a:t>
            </a:r>
            <a:r>
              <a:rPr lang="de-DE" sz="2000" dirty="0" err="1"/>
              <a:t>be</a:t>
            </a:r>
            <a:r>
              <a:rPr lang="de-DE" sz="2000" dirty="0"/>
              <a:t> </a:t>
            </a:r>
            <a:r>
              <a:rPr lang="de-DE" sz="2000" dirty="0" err="1"/>
              <a:t>understood</a:t>
            </a:r>
            <a:r>
              <a:rPr lang="de-DE" sz="2000" dirty="0"/>
              <a:t> </a:t>
            </a:r>
            <a:r>
              <a:rPr lang="de-DE" sz="2000" dirty="0" err="1"/>
              <a:t>as</a:t>
            </a:r>
            <a:r>
              <a:rPr lang="de-DE" sz="2000" dirty="0"/>
              <a:t> </a:t>
            </a:r>
            <a:r>
              <a:rPr lang="de-DE" sz="2000" b="1" dirty="0"/>
              <a:t>a </a:t>
            </a:r>
            <a:r>
              <a:rPr lang="de-DE" sz="2000" b="1" dirty="0" err="1"/>
              <a:t>little</a:t>
            </a:r>
            <a:r>
              <a:rPr lang="de-DE" sz="2000" b="1" dirty="0"/>
              <a:t> </a:t>
            </a:r>
            <a:r>
              <a:rPr lang="de-DE" sz="2000" b="1" dirty="0" err="1"/>
              <a:t>farm</a:t>
            </a:r>
            <a:r>
              <a:rPr lang="de-DE" sz="2000" dirty="0"/>
              <a:t>.</a:t>
            </a:r>
          </a:p>
          <a:p>
            <a:pPr marL="0" indent="0">
              <a:buNone/>
            </a:pPr>
            <a:endParaRPr lang="de-DE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01EF8-13D8-0646-8989-26AA710A1B71}"/>
              </a:ext>
            </a:extLst>
          </p:cNvPr>
          <p:cNvSpPr txBox="1"/>
          <p:nvPr/>
        </p:nvSpPr>
        <p:spPr>
          <a:xfrm>
            <a:off x="3345628" y="290456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F389E0-0E80-1047-AD09-8292ACCD3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07135"/>
            <a:ext cx="4571999" cy="16902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903E67-412A-1F49-A257-700925415CF5}"/>
              </a:ext>
            </a:extLst>
          </p:cNvPr>
          <p:cNvSpPr txBox="1"/>
          <p:nvPr/>
        </p:nvSpPr>
        <p:spPr>
          <a:xfrm>
            <a:off x="8685964" y="3135397"/>
            <a:ext cx="381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[4]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EF2177-38B5-284D-8A0E-0FA9B0281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44" y="3303991"/>
            <a:ext cx="2787650" cy="16417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579021-56EE-2845-A312-C3166E1BA6A4}"/>
              </a:ext>
            </a:extLst>
          </p:cNvPr>
          <p:cNvSpPr txBox="1"/>
          <p:nvPr/>
        </p:nvSpPr>
        <p:spPr>
          <a:xfrm>
            <a:off x="3339643" y="3725277"/>
            <a:ext cx="109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6D3EC1-D567-7A4E-B5B4-E009DAFDCBC4}"/>
              </a:ext>
            </a:extLst>
          </p:cNvPr>
          <p:cNvSpPr txBox="1"/>
          <p:nvPr/>
        </p:nvSpPr>
        <p:spPr>
          <a:xfrm>
            <a:off x="3385363" y="4059438"/>
            <a:ext cx="109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Grasp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ED1572-18AF-7D4B-A6FC-43761AE89036}"/>
              </a:ext>
            </a:extLst>
          </p:cNvPr>
          <p:cNvSpPr txBox="1"/>
          <p:nvPr/>
        </p:nvSpPr>
        <p:spPr>
          <a:xfrm>
            <a:off x="3347712" y="4410982"/>
            <a:ext cx="1098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Grow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B0BA17-8B06-B947-ABC7-DA6C6198E573}"/>
              </a:ext>
            </a:extLst>
          </p:cNvPr>
          <p:cNvSpPr txBox="1"/>
          <p:nvPr/>
        </p:nvSpPr>
        <p:spPr>
          <a:xfrm>
            <a:off x="3104709" y="2996214"/>
            <a:ext cx="16594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3 Main Actions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247F38-257A-384B-AF2C-F07358537DD6}"/>
              </a:ext>
            </a:extLst>
          </p:cNvPr>
          <p:cNvCxnSpPr>
            <a:stCxn id="13" idx="2"/>
          </p:cNvCxnSpPr>
          <p:nvPr/>
        </p:nvCxnSpPr>
        <p:spPr bwMode="auto">
          <a:xfrm flipH="1">
            <a:off x="3934423" y="3303991"/>
            <a:ext cx="1" cy="329355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3252FFD-023F-6642-8257-1C4FE5EEBDF6}"/>
              </a:ext>
            </a:extLst>
          </p:cNvPr>
          <p:cNvSpPr txBox="1"/>
          <p:nvPr/>
        </p:nvSpPr>
        <p:spPr>
          <a:xfrm>
            <a:off x="7126306" y="2842325"/>
            <a:ext cx="1941494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Predicate Hierarchy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545B8C-1BBE-784E-BC5F-0D2A71EB51DE}"/>
              </a:ext>
            </a:extLst>
          </p:cNvPr>
          <p:cNvCxnSpPr>
            <a:stCxn id="18" idx="2"/>
          </p:cNvCxnSpPr>
          <p:nvPr/>
        </p:nvCxnSpPr>
        <p:spPr bwMode="auto">
          <a:xfrm flipH="1">
            <a:off x="7126306" y="3150102"/>
            <a:ext cx="970747" cy="229055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27843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895350"/>
                <a:ext cx="8534400" cy="361890"/>
              </a:xfrm>
            </p:spPr>
            <p:txBody>
              <a:bodyPr/>
              <a:lstStyle/>
              <a:p>
                <a:r>
                  <a:rPr lang="en-US" sz="2000" dirty="0">
                    <a:latin typeface="Cambria Math" panose="02040503050406030204" pitchFamily="18" charset="0"/>
                  </a:rPr>
                  <a:t>Representations of entities in the environment</a:t>
                </a:r>
                <a:endParaRPr lang="en-US" sz="2000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𝑜𝑏𝑗𝑒𝑐𝑡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𝑎𝑔𝑒𝑛𝑡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de-DE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de-DE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𝑜𝑏𝑠𝑒𝑟𝑣𝑎𝑡𝑖𝑜𝑛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𝑎𝑔𝑒𝑛𝑡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𝑜𝑏𝑗𝑒𝑐𝑡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𝑜𝑏𝑗𝑒𝑐𝑡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de-DE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𝑜𝑏𝑠𝑒𝑟𝑣𝑎𝑡𝑖𝑜𝑛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𝑜𝑏𝑠𝑒𝑟𝑣𝑎𝑡𝑖𝑜𝑛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de-DE" sz="2000" dirty="0"/>
                  <a:t> </a:t>
                </a:r>
                <a:r>
                  <a:rPr lang="de-DE" sz="2000" dirty="0">
                    <a:sym typeface="Wingdings" pitchFamily="2" charset="2"/>
                  </a:rPr>
                  <a:t> </a:t>
                </a:r>
                <a:r>
                  <a:rPr lang="de-DE" sz="2000" dirty="0"/>
                  <a:t>For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quantification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</a:t>
                </a:r>
                <a:r>
                  <a:rPr lang="de-DE" sz="2000" b="1" dirty="0" err="1"/>
                  <a:t>Grow</a:t>
                </a:r>
                <a:r>
                  <a:rPr lang="de-DE" sz="2000" dirty="0"/>
                  <a:t>.</a:t>
                </a:r>
              </a:p>
              <a:p>
                <a:r>
                  <a:rPr lang="de-DE" sz="2000" dirty="0" err="1"/>
                  <a:t>Where</a:t>
                </a:r>
                <a:endParaRPr lang="de-DE" sz="2000" dirty="0"/>
              </a:p>
              <a:p>
                <a:pPr lvl="1"/>
                <a:r>
                  <a:rPr lang="de-DE" sz="1700" dirty="0"/>
                  <a:t>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∈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/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700" dirty="0" err="1"/>
                  <a:t>is</a:t>
                </a:r>
                <a:r>
                  <a:rPr lang="de-DE" sz="1700" dirty="0"/>
                  <a:t> Diameter </a:t>
                </a:r>
                <a:r>
                  <a:rPr lang="de-DE" sz="1700" dirty="0" err="1"/>
                  <a:t>and</a:t>
                </a:r>
                <a:r>
                  <a:rPr lang="de-DE" sz="1700" dirty="0"/>
                  <a:t> [x, </a:t>
                </a:r>
                <a:r>
                  <a:rPr lang="de-DE" sz="1700" dirty="0" err="1"/>
                  <a:t>y</a:t>
                </a:r>
                <a:r>
                  <a:rPr lang="de-DE" sz="1700" dirty="0"/>
                  <a:t>]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∈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700" dirty="0"/>
                  <a:t>is Position</a:t>
                </a:r>
              </a:p>
              <a:p>
                <a:pPr lvl="1"/>
                <a:r>
                  <a:rPr lang="de-DE" sz="1700" dirty="0" err="1"/>
                  <a:t>g</a:t>
                </a:r>
                <a:r>
                  <a:rPr lang="de-DE" sz="17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{−1,1}</m:t>
                        </m:r>
                      </m:e>
                      <m:sup/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700" dirty="0"/>
                  <a:t>is </a:t>
                </a:r>
                <a:r>
                  <a:rPr lang="de-DE" sz="1700" dirty="0" err="1"/>
                  <a:t>Gripper</a:t>
                </a:r>
                <a:r>
                  <a:rPr lang="de-DE" sz="1700" dirty="0"/>
                  <a:t> Status</a:t>
                </a:r>
              </a:p>
              <a:p>
                <a:pPr lvl="1"/>
                <a:r>
                  <a:rPr lang="de-DE" sz="1700" dirty="0"/>
                  <a:t>[</a:t>
                </a:r>
                <a:r>
                  <a:rPr lang="de-DE" sz="1700" dirty="0" err="1"/>
                  <a:t>r,g,b</a:t>
                </a:r>
                <a:r>
                  <a:rPr lang="de-DE" sz="1700" dirty="0"/>
                  <a:t>]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∈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1700" dirty="0"/>
                  <a:t>is Color </a:t>
                </a:r>
              </a:p>
              <a:p>
                <a:endParaRPr lang="de-DE" sz="2000" dirty="0"/>
              </a:p>
              <a:p>
                <a:endParaRPr lang="de-DE" sz="2000" dirty="0"/>
              </a:p>
              <a:p>
                <a:pPr marL="0" indent="0">
                  <a:buNone/>
                </a:pPr>
                <a:endParaRPr lang="de-DE" sz="2000" dirty="0"/>
              </a:p>
            </p:txBody>
          </p:sp>
        </mc:Choice>
        <mc:Fallback xmlns=""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895350"/>
                <a:ext cx="8534400" cy="361890"/>
              </a:xfrm>
              <a:blipFill>
                <a:blip r:embed="rId3"/>
                <a:stretch>
                  <a:fillRect l="-594" t="-10345" r="-297" b="-993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01EF8-13D8-0646-8989-26AA710A1B71}"/>
              </a:ext>
            </a:extLst>
          </p:cNvPr>
          <p:cNvSpPr txBox="1"/>
          <p:nvPr/>
        </p:nvSpPr>
        <p:spPr>
          <a:xfrm>
            <a:off x="3345628" y="2904565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03E67-412A-1F49-A257-700925415CF5}"/>
              </a:ext>
            </a:extLst>
          </p:cNvPr>
          <p:cNvSpPr txBox="1"/>
          <p:nvPr/>
        </p:nvSpPr>
        <p:spPr>
          <a:xfrm>
            <a:off x="8685964" y="3135397"/>
            <a:ext cx="381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2495992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Generation Mechanism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81000" y="895350"/>
            <a:ext cx="8534400" cy="361890"/>
          </a:xfrm>
        </p:spPr>
        <p:txBody>
          <a:bodyPr/>
          <a:lstStyle/>
          <a:p>
            <a:r>
              <a:rPr lang="en-US" sz="2000" dirty="0"/>
              <a:t>Goals are generated using Construction Grammar.</a:t>
            </a:r>
          </a:p>
          <a:p>
            <a:r>
              <a:rPr lang="en-US" sz="2000" dirty="0"/>
              <a:t>Out of the known-distribution goals are generated using the compositionality.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D4A2A-F19A-2242-9E26-0A4BA2718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0456"/>
            <a:ext cx="8173993" cy="19021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7180D1-F4BF-7345-AC4B-E4C5A35963D4}"/>
              </a:ext>
            </a:extLst>
          </p:cNvPr>
          <p:cNvSpPr txBox="1"/>
          <p:nvPr/>
        </p:nvSpPr>
        <p:spPr>
          <a:xfrm>
            <a:off x="190082" y="3130610"/>
            <a:ext cx="381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[4]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DDEC69-8DFB-DF45-8BBD-FBA23170386E}"/>
              </a:ext>
            </a:extLst>
          </p:cNvPr>
          <p:cNvSpPr/>
          <p:nvPr/>
        </p:nvSpPr>
        <p:spPr bwMode="auto">
          <a:xfrm>
            <a:off x="1219200" y="1915473"/>
            <a:ext cx="1371600" cy="562630"/>
          </a:xfrm>
          <a:prstGeom prst="ellipse">
            <a:avLst/>
          </a:prstGeom>
          <a:solidFill>
            <a:srgbClr val="92D05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Grasp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38A414-D980-DA49-BF3C-1F32D58DB91F}"/>
              </a:ext>
            </a:extLst>
          </p:cNvPr>
          <p:cNvSpPr/>
          <p:nvPr/>
        </p:nvSpPr>
        <p:spPr bwMode="auto">
          <a:xfrm>
            <a:off x="3962400" y="1876725"/>
            <a:ext cx="1371600" cy="562630"/>
          </a:xfrm>
          <a:prstGeom prst="ellipse">
            <a:avLst/>
          </a:prstGeom>
          <a:solidFill>
            <a:srgbClr val="92D05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Red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8B9110-DF08-3243-AF1A-A783D67BED1B}"/>
              </a:ext>
            </a:extLst>
          </p:cNvPr>
          <p:cNvSpPr/>
          <p:nvPr/>
        </p:nvSpPr>
        <p:spPr bwMode="auto">
          <a:xfrm>
            <a:off x="6629400" y="1884988"/>
            <a:ext cx="1371600" cy="562630"/>
          </a:xfrm>
          <a:prstGeom prst="ellipse">
            <a:avLst/>
          </a:prstGeom>
          <a:solidFill>
            <a:srgbClr val="92D05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/>
              <a:t>Cat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61412-5940-3548-A5F5-D546DED13899}"/>
              </a:ext>
            </a:extLst>
          </p:cNvPr>
          <p:cNvSpPr txBox="1"/>
          <p:nvPr/>
        </p:nvSpPr>
        <p:spPr>
          <a:xfrm>
            <a:off x="381000" y="2038350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Atom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F8E6C6-26E2-2942-8DAC-4ED6272900D2}"/>
              </a:ext>
            </a:extLst>
          </p:cNvPr>
          <p:cNvSpPr txBox="1"/>
          <p:nvPr/>
        </p:nvSpPr>
        <p:spPr>
          <a:xfrm>
            <a:off x="3126059" y="2038349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Atom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A6514B-5240-F640-82D3-ED39DC3D1145}"/>
              </a:ext>
            </a:extLst>
          </p:cNvPr>
          <p:cNvSpPr txBox="1"/>
          <p:nvPr/>
        </p:nvSpPr>
        <p:spPr>
          <a:xfrm>
            <a:off x="5562600" y="2004151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Atom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6B8A48-AA26-764B-A256-252177B74DBA}"/>
              </a:ext>
            </a:extLst>
          </p:cNvPr>
          <p:cNvSpPr/>
          <p:nvPr/>
        </p:nvSpPr>
        <p:spPr bwMode="auto">
          <a:xfrm>
            <a:off x="2448696" y="2675803"/>
            <a:ext cx="3276600" cy="461665"/>
          </a:xfrm>
          <a:prstGeom prst="rect">
            <a:avLst/>
          </a:prstGeom>
          <a:solidFill>
            <a:srgbClr val="92D050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rtlCol="0" anchor="ctr">
            <a:spAutoFit/>
          </a:bodyPr>
          <a:lstStyle/>
          <a:p>
            <a:pPr algn="ctr"/>
            <a:r>
              <a:rPr lang="en-US" dirty="0"/>
              <a:t>Grasp Red Cat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E623E1-AE9E-6D4F-B62E-D235865E55A5}"/>
              </a:ext>
            </a:extLst>
          </p:cNvPr>
          <p:cNvSpPr txBox="1"/>
          <p:nvPr/>
        </p:nvSpPr>
        <p:spPr>
          <a:xfrm>
            <a:off x="5928314" y="2716017"/>
            <a:ext cx="23231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Compound / Goal</a:t>
            </a:r>
          </a:p>
        </p:txBody>
      </p:sp>
    </p:spTree>
    <p:extLst>
      <p:ext uri="{BB962C8B-B14F-4D97-AF65-F5344CB8AC3E}">
        <p14:creationId xmlns:p14="http://schemas.microsoft.com/office/powerpoint/2010/main" val="2553127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28" y="391180"/>
            <a:ext cx="8545672" cy="523220"/>
          </a:xfrm>
        </p:spPr>
        <p:txBody>
          <a:bodyPr/>
          <a:lstStyle/>
          <a:p>
            <a:r>
              <a:rPr lang="en-US" dirty="0"/>
              <a:t>Goal Generation : “Curiosity”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5F62F9-B12E-8C40-BF8E-29E7EF68B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28" y="884238"/>
            <a:ext cx="8534400" cy="3943350"/>
          </a:xfrm>
        </p:spPr>
        <p:txBody>
          <a:bodyPr/>
          <a:lstStyle/>
          <a:p>
            <a:r>
              <a:rPr lang="en-US" dirty="0"/>
              <a:t>Essence of the </a:t>
            </a:r>
            <a:r>
              <a:rPr lang="en-US" b="1" dirty="0"/>
              <a:t>IMAGINE</a:t>
            </a:r>
            <a:r>
              <a:rPr lang="en-US" dirty="0"/>
              <a:t> algorithm: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Compute sets of equivalent atoms.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Atoms are equivalent if the edit distance between the compounds is 1</a:t>
            </a:r>
          </a:p>
          <a:p>
            <a:pPr marL="1085850" lvl="2">
              <a:buFont typeface="Arial" panose="020B0604020202020204" pitchFamily="34" charset="0"/>
              <a:buChar char="•"/>
            </a:pPr>
            <a:r>
              <a:rPr lang="en-US" dirty="0"/>
              <a:t>E.g. “Move Red Table” and “Move Red Chair” </a:t>
            </a:r>
            <a:r>
              <a:rPr lang="en-US" dirty="0">
                <a:sym typeface="Wingdings" pitchFamily="2" charset="2"/>
              </a:rPr>
              <a:t> Table and Chair are equivalent.</a:t>
            </a:r>
            <a:endParaRPr lang="en-US" dirty="0"/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Use substitution to generate new goals.</a:t>
            </a:r>
          </a:p>
          <a:p>
            <a:pPr marL="1085850" lvl="2">
              <a:buFont typeface="Arial" panose="020B0604020202020204" pitchFamily="34" charset="0"/>
              <a:buChar char="•"/>
            </a:pPr>
            <a:r>
              <a:rPr lang="en-US" dirty="0"/>
              <a:t>E.g. If known goal = “Break Red Chair”, new goal = “Break Red Table.”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dirty="0"/>
              <a:t>Return Imagined Compounds.</a:t>
            </a:r>
          </a:p>
        </p:txBody>
      </p:sp>
    </p:spTree>
    <p:extLst>
      <p:ext uri="{BB962C8B-B14F-4D97-AF65-F5344CB8AC3E}">
        <p14:creationId xmlns:p14="http://schemas.microsoft.com/office/powerpoint/2010/main" val="69139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28" y="391180"/>
            <a:ext cx="8545672" cy="523220"/>
          </a:xfrm>
        </p:spPr>
        <p:txBody>
          <a:bodyPr/>
          <a:lstStyle/>
          <a:p>
            <a:r>
              <a:rPr lang="en-US" dirty="0"/>
              <a:t>Language Encoder, Reward and Policy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35F62F9-B12E-8C40-BF8E-29E7EF68B5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9728" y="884238"/>
                <a:ext cx="8534400" cy="3943350"/>
              </a:xfrm>
            </p:spPr>
            <p:txBody>
              <a:bodyPr/>
              <a:lstStyle/>
              <a:p>
                <a:r>
                  <a:rPr lang="en-US" dirty="0"/>
                  <a:t>Function approximators (Goal conditioned) used </a:t>
                </a:r>
              </a:p>
              <a:p>
                <a:pPr lvl="1"/>
                <a:r>
                  <a:rPr lang="en-US" dirty="0"/>
                  <a:t>LSTM : goal </a:t>
                </a:r>
                <a:r>
                  <a:rPr lang="en-US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Reward function – Artificial Neural Network</a:t>
                </a:r>
              </a:p>
              <a:p>
                <a:pPr lvl="1"/>
                <a:r>
                  <a:rPr lang="en-US" sz="2400" dirty="0"/>
                  <a:t>Policy function – Artificial Neural Network</a:t>
                </a:r>
              </a:p>
              <a:p>
                <a:r>
                  <a:rPr lang="en-US" dirty="0"/>
                  <a:t>All the above are trained when we run the agent.</a:t>
                </a:r>
              </a:p>
              <a:p>
                <a:pPr lvl="1"/>
                <a:r>
                  <a:rPr lang="en-US" dirty="0"/>
                  <a:t>Basic principle – Save anything that is interesting</a:t>
                </a:r>
              </a:p>
              <a:p>
                <a:pPr lvl="1"/>
                <a:r>
                  <a:rPr lang="en-US" dirty="0"/>
                  <a:t>Use the saved memory to train our function approximators</a:t>
                </a:r>
              </a:p>
              <a:p>
                <a:r>
                  <a:rPr lang="en-US" dirty="0"/>
                  <a:t>Lets go back to the architecture!!! 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35F62F9-B12E-8C40-BF8E-29E7EF68B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9728" y="884238"/>
                <a:ext cx="8534400" cy="3943350"/>
              </a:xfrm>
              <a:blipFill>
                <a:blip r:embed="rId3"/>
                <a:stretch>
                  <a:fillRect l="-892" t="-1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986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553" y="149880"/>
            <a:ext cx="8545672" cy="523220"/>
          </a:xfrm>
        </p:spPr>
        <p:txBody>
          <a:bodyPr/>
          <a:lstStyle/>
          <a:p>
            <a:r>
              <a:rPr lang="en-US" dirty="0"/>
              <a:t>Proposed agent architecture [4]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799" y="937796"/>
            <a:ext cx="2286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Encoder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3233056" y="937796"/>
            <a:ext cx="16437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err="1"/>
              <a:t>eASPP</a:t>
            </a:r>
            <a:endParaRPr lang="en-US" sz="1600"/>
          </a:p>
        </p:txBody>
      </p:sp>
      <p:sp>
        <p:nvSpPr>
          <p:cNvPr id="16" name="TextBox 15"/>
          <p:cNvSpPr txBox="1"/>
          <p:nvPr/>
        </p:nvSpPr>
        <p:spPr>
          <a:xfrm>
            <a:off x="4876800" y="937796"/>
            <a:ext cx="3276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Decoder</a:t>
            </a:r>
            <a:endParaRPr lang="en-US" sz="1800" dirty="0"/>
          </a:p>
        </p:txBody>
      </p:sp>
      <p:sp>
        <p:nvSpPr>
          <p:cNvPr id="17" name="TextBox 16"/>
          <p:cNvSpPr txBox="1"/>
          <p:nvPr/>
        </p:nvSpPr>
        <p:spPr>
          <a:xfrm>
            <a:off x="4648200" y="3071396"/>
            <a:ext cx="2819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/>
              <a:t>Skip Connections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4541B0-5FC1-2A42-A5F4-6545344EF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49" y="713695"/>
            <a:ext cx="8178800" cy="43130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D1A29-2718-774C-B424-B61B07808406}"/>
              </a:ext>
            </a:extLst>
          </p:cNvPr>
          <p:cNvSpPr txBox="1"/>
          <p:nvPr/>
        </p:nvSpPr>
        <p:spPr>
          <a:xfrm>
            <a:off x="1534209" y="713695"/>
            <a:ext cx="7496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/>
              <a:t>IMAGINE</a:t>
            </a:r>
            <a:r>
              <a:rPr lang="de-DE" sz="1400" dirty="0"/>
              <a:t> - </a:t>
            </a:r>
            <a:r>
              <a:rPr lang="de-DE" sz="1400" b="1" dirty="0" err="1"/>
              <a:t>I</a:t>
            </a:r>
            <a:r>
              <a:rPr lang="de-DE" sz="1400" dirty="0" err="1"/>
              <a:t>ntrinsic</a:t>
            </a:r>
            <a:r>
              <a:rPr lang="de-DE" sz="1400" dirty="0"/>
              <a:t> </a:t>
            </a:r>
            <a:r>
              <a:rPr lang="de-DE" sz="1400" b="1" dirty="0" err="1"/>
              <a:t>M</a:t>
            </a:r>
            <a:r>
              <a:rPr lang="de-DE" sz="1400" dirty="0" err="1"/>
              <a:t>otivations</a:t>
            </a:r>
            <a:r>
              <a:rPr lang="de-DE" sz="1400" dirty="0"/>
              <a:t> </a:t>
            </a:r>
            <a:r>
              <a:rPr lang="de-DE" sz="1400" b="1" dirty="0" err="1"/>
              <a:t>A</a:t>
            </a:r>
            <a:r>
              <a:rPr lang="de-DE" sz="1400" dirty="0" err="1"/>
              <a:t>nd</a:t>
            </a:r>
            <a:r>
              <a:rPr lang="de-DE" sz="1400" dirty="0"/>
              <a:t> </a:t>
            </a:r>
            <a:r>
              <a:rPr lang="de-DE" sz="1400" b="1" dirty="0"/>
              <a:t>G</a:t>
            </a:r>
            <a:r>
              <a:rPr lang="de-DE" sz="1400" dirty="0"/>
              <a:t>oal </a:t>
            </a:r>
            <a:r>
              <a:rPr lang="de-DE" sz="1400" b="1" dirty="0" err="1"/>
              <a:t>IN</a:t>
            </a:r>
            <a:r>
              <a:rPr lang="de-DE" sz="1400" dirty="0" err="1"/>
              <a:t>vention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b="1" dirty="0"/>
              <a:t>E</a:t>
            </a:r>
            <a:r>
              <a:rPr lang="de-DE" sz="1400" dirty="0"/>
              <a:t>xploration</a:t>
            </a:r>
          </a:p>
          <a:p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15C11-E044-BD46-A7A3-309D8AD0E240}"/>
              </a:ext>
            </a:extLst>
          </p:cNvPr>
          <p:cNvSpPr txBox="1"/>
          <p:nvPr/>
        </p:nvSpPr>
        <p:spPr>
          <a:xfrm>
            <a:off x="-8703" y="1192674"/>
            <a:ext cx="2066103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Intrinsic Motivations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27ADCE-2836-B441-922B-AA29864742B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032547" y="1500452"/>
            <a:ext cx="928121" cy="422854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08C568B-B57C-254F-8A29-0CCF35EDD6AB}"/>
              </a:ext>
            </a:extLst>
          </p:cNvPr>
          <p:cNvSpPr txBox="1"/>
          <p:nvPr/>
        </p:nvSpPr>
        <p:spPr>
          <a:xfrm>
            <a:off x="-8702" y="4355273"/>
            <a:ext cx="1542912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Social Partner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1CC63D-F7AD-4844-B93C-31005C918843}"/>
              </a:ext>
            </a:extLst>
          </p:cNvPr>
          <p:cNvCxnSpPr>
            <a:cxnSpLocks/>
            <a:endCxn id="32" idx="0"/>
          </p:cNvCxnSpPr>
          <p:nvPr/>
        </p:nvCxnSpPr>
        <p:spPr bwMode="auto">
          <a:xfrm flipH="1">
            <a:off x="762754" y="4095750"/>
            <a:ext cx="1294646" cy="259523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440921-E368-E543-97E1-AA09BAF750C1}"/>
              </a:ext>
            </a:extLst>
          </p:cNvPr>
          <p:cNvSpPr txBox="1"/>
          <p:nvPr/>
        </p:nvSpPr>
        <p:spPr>
          <a:xfrm>
            <a:off x="6767344" y="4802931"/>
            <a:ext cx="25146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Playground environment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A87223-5153-4A4A-BA16-D0E92298300A}"/>
              </a:ext>
            </a:extLst>
          </p:cNvPr>
          <p:cNvCxnSpPr>
            <a:stCxn id="14" idx="0"/>
          </p:cNvCxnSpPr>
          <p:nvPr/>
        </p:nvCxnSpPr>
        <p:spPr bwMode="auto">
          <a:xfrm flipH="1" flipV="1">
            <a:off x="7772400" y="4355273"/>
            <a:ext cx="252244" cy="447658"/>
          </a:xfrm>
          <a:prstGeom prst="straightConnector1">
            <a:avLst/>
          </a:prstGeom>
          <a:noFill/>
          <a:ln w="50800" cap="flat" cmpd="sng" algn="ctr">
            <a:solidFill>
              <a:srgbClr val="80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A5E415-04F0-364F-B342-7C0DBEEBED42}"/>
                  </a:ext>
                </a:extLst>
              </p:cNvPr>
              <p:cNvSpPr txBox="1"/>
              <p:nvPr/>
            </p:nvSpPr>
            <p:spPr>
              <a:xfrm>
                <a:off x="5943599" y="1041658"/>
                <a:ext cx="3086931" cy="307777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1400" dirty="0"/>
                  <a:t> = LSTM Language encoder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A5E415-04F0-364F-B342-7C0DBEEBE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599" y="1041658"/>
                <a:ext cx="3086931" cy="307777"/>
              </a:xfrm>
              <a:prstGeom prst="rect">
                <a:avLst/>
              </a:prstGeom>
              <a:blipFill>
                <a:blip r:embed="rId4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2365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553" y="149880"/>
            <a:ext cx="8545672" cy="523220"/>
          </a:xfrm>
        </p:spPr>
        <p:txBody>
          <a:bodyPr/>
          <a:lstStyle/>
          <a:p>
            <a:r>
              <a:rPr lang="en-US" dirty="0"/>
              <a:t>IMAGINE algorithm [4]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089299-48AD-4E4A-B925-EA1879328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73100"/>
            <a:ext cx="7391400" cy="450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52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Generalization (Goal generalization)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970114-FE11-F841-90E3-36A4C4CA4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28" y="884238"/>
            <a:ext cx="8534400" cy="3943350"/>
          </a:xfrm>
        </p:spPr>
        <p:txBody>
          <a:bodyPr/>
          <a:lstStyle/>
          <a:p>
            <a:r>
              <a:rPr lang="en-US" dirty="0"/>
              <a:t>Through imagination, 2 Types of “Interesting” generalizations were found</a:t>
            </a:r>
          </a:p>
          <a:p>
            <a:pPr lvl="1"/>
            <a:r>
              <a:rPr lang="en-US" dirty="0"/>
              <a:t>“Grow” generalization to non-living things</a:t>
            </a:r>
          </a:p>
          <a:p>
            <a:pPr lvl="1"/>
            <a:r>
              <a:rPr lang="en-US" dirty="0"/>
              <a:t>Behaviors adaptation to growing plants [5]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C88F9-0B40-5140-9A91-E991CAEBF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76489"/>
            <a:ext cx="4428174" cy="2346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89A111-77E5-514D-885B-D02C9FAC3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174" y="2862706"/>
            <a:ext cx="4715826" cy="214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46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studies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3943350"/>
          </a:xfrm>
        </p:spPr>
        <p:txBody>
          <a:bodyPr/>
          <a:lstStyle/>
          <a:p>
            <a:endParaRPr lang="en-US" sz="2000" dirty="0">
              <a:solidFill>
                <a:srgbClr val="9A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54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improvement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9DEE8C-FD8B-B340-AFBF-EE80D4FB0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28" y="884238"/>
            <a:ext cx="8534400" cy="394335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44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3943350"/>
          </a:xfrm>
        </p:spPr>
        <p:txBody>
          <a:bodyPr/>
          <a:lstStyle/>
          <a:p>
            <a:r>
              <a:rPr lang="en-US" sz="2000" dirty="0"/>
              <a:t>The work is done on synthetic environment.</a:t>
            </a:r>
          </a:p>
          <a:p>
            <a:r>
              <a:rPr lang="en-US" sz="2000" dirty="0"/>
              <a:t>Language grammar used is very primitive.</a:t>
            </a:r>
          </a:p>
          <a:p>
            <a:r>
              <a:rPr lang="en-US" sz="2000" dirty="0"/>
              <a:t>Very high computational cost i.e. ~2.5 CPU years for training.</a:t>
            </a:r>
          </a:p>
          <a:p>
            <a:r>
              <a:rPr lang="en-US" sz="2000" dirty="0"/>
              <a:t>Future work proposed by the authors</a:t>
            </a:r>
          </a:p>
          <a:p>
            <a:pPr lvl="1"/>
            <a:r>
              <a:rPr lang="en-US" sz="1700" dirty="0"/>
              <a:t>More complex grammar can be utilized for scaffolding of the agent</a:t>
            </a:r>
          </a:p>
          <a:p>
            <a:pPr lvl="1"/>
            <a:r>
              <a:rPr lang="en-US" sz="1700" dirty="0"/>
              <a:t>Reduce the assumption on the agent (Reducing presence and reducing precision of description)</a:t>
            </a:r>
          </a:p>
          <a:p>
            <a:pPr lvl="1"/>
            <a:r>
              <a:rPr lang="en-US" sz="1700" dirty="0"/>
              <a:t>Guiding the agent by showing how to accomplish a goal.</a:t>
            </a:r>
          </a:p>
          <a:p>
            <a:pPr lvl="1"/>
            <a:endParaRPr lang="en-US" sz="1700" dirty="0">
              <a:solidFill>
                <a:srgbClr val="9A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22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1950"/>
            <a:ext cx="8534400" cy="523220"/>
          </a:xfrm>
        </p:spPr>
        <p:txBody>
          <a:bodyPr/>
          <a:lstStyle/>
          <a:p>
            <a:r>
              <a:rPr lang="en-US" dirty="0"/>
              <a:t>Thank you for your attention!</a:t>
            </a:r>
          </a:p>
        </p:txBody>
      </p:sp>
      <p:sp>
        <p:nvSpPr>
          <p:cNvPr id="3" name="Text Placeholder 4"/>
          <p:cNvSpPr txBox="1">
            <a:spLocks/>
          </p:cNvSpPr>
          <p:nvPr/>
        </p:nvSpPr>
        <p:spPr>
          <a:xfrm>
            <a:off x="0" y="1047750"/>
            <a:ext cx="9144000" cy="2133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0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400" kern="0" dirty="0"/>
              <a:t>References:</a:t>
            </a:r>
          </a:p>
          <a:p>
            <a:pPr marL="0" indent="0">
              <a:buNone/>
            </a:pPr>
            <a:r>
              <a:rPr lang="en-US" sz="1400" dirty="0"/>
              <a:t>[1] - </a:t>
            </a:r>
            <a:r>
              <a:rPr lang="en-US" sz="1400" dirty="0">
                <a:hlinkClick r:id="rId3"/>
              </a:rPr>
              <a:t>https://unsplash.com/s/photos/children-playing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[2] - By </a:t>
            </a:r>
            <a:r>
              <a:rPr lang="en-US" sz="1400" dirty="0" err="1"/>
              <a:t>Dcoetzee</a:t>
            </a:r>
            <a:r>
              <a:rPr lang="en-US" sz="1400" dirty="0"/>
              <a:t> - Own work, CC0, </a:t>
            </a:r>
            <a:r>
              <a:rPr lang="en-US" sz="1400" dirty="0">
                <a:hlinkClick r:id="rId4"/>
              </a:rPr>
              <a:t>https://commons.wikimedia.org/w/index.php?curid=20903046</a:t>
            </a:r>
            <a:endParaRPr lang="en-US" sz="1400" dirty="0"/>
          </a:p>
          <a:p>
            <a:pPr marL="0" indent="0">
              <a:buNone/>
            </a:pPr>
            <a:r>
              <a:rPr lang="en-US" sz="1400" kern="0" dirty="0"/>
              <a:t>[3] - By </a:t>
            </a:r>
            <a:r>
              <a:rPr lang="en-US" sz="1400" kern="0" dirty="0" err="1"/>
              <a:t>Tysto</a:t>
            </a:r>
            <a:r>
              <a:rPr lang="en-US" sz="1400" kern="0" dirty="0"/>
              <a:t> - Own work, Public Domain, </a:t>
            </a:r>
            <a:r>
              <a:rPr lang="en-US" sz="1400" kern="0" dirty="0">
                <a:hlinkClick r:id="rId5"/>
              </a:rPr>
              <a:t>https://commons.wikimedia.org/w/index.php?curid=304059</a:t>
            </a:r>
            <a:endParaRPr lang="en-US" sz="1400" kern="0" dirty="0"/>
          </a:p>
          <a:p>
            <a:pPr marL="0" indent="0">
              <a:buNone/>
            </a:pPr>
            <a:r>
              <a:rPr lang="en-US" sz="1400" kern="0" dirty="0"/>
              <a:t>[4] – The research paper</a:t>
            </a:r>
          </a:p>
          <a:p>
            <a:pPr marL="0" indent="0">
              <a:buNone/>
            </a:pPr>
            <a:r>
              <a:rPr lang="en-US" sz="1400" kern="0" dirty="0"/>
              <a:t>[5] - </a:t>
            </a:r>
            <a:r>
              <a:rPr lang="en-US" sz="1400" kern="0" dirty="0">
                <a:hlinkClick r:id="rId6"/>
              </a:rPr>
              <a:t>https://sites.google.com/view/imagine-drl</a:t>
            </a:r>
            <a:endParaRPr lang="en-US" sz="1400" kern="0" dirty="0"/>
          </a:p>
          <a:p>
            <a:pPr marL="0" indent="0">
              <a:buNone/>
            </a:pPr>
            <a:endParaRPr lang="en-US" sz="1400" kern="0" dirty="0"/>
          </a:p>
        </p:txBody>
      </p:sp>
    </p:spTree>
    <p:extLst>
      <p:ext uri="{BB962C8B-B14F-4D97-AF65-F5344CB8AC3E}">
        <p14:creationId xmlns:p14="http://schemas.microsoft.com/office/powerpoint/2010/main" val="3945799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Appendix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1000" y="914400"/>
            <a:ext cx="8610600" cy="3943350"/>
          </a:xfrm>
        </p:spPr>
        <p:txBody>
          <a:bodyPr/>
          <a:lstStyle/>
          <a:p>
            <a:r>
              <a:rPr lang="en-US" sz="2000" dirty="0">
                <a:solidFill>
                  <a:srgbClr val="9A0000"/>
                </a:solidFill>
              </a:rPr>
              <a:t>In Further slides – Extra details about the research paper.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91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Generation : “Curiosity” algorithm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1873A4-DA9A-E545-897B-53FBABA18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000" y="766764"/>
            <a:ext cx="4695435" cy="403066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7180D1-F4BF-7345-AC4B-E4C5A35963D4}"/>
              </a:ext>
            </a:extLst>
          </p:cNvPr>
          <p:cNvSpPr txBox="1"/>
          <p:nvPr/>
        </p:nvSpPr>
        <p:spPr>
          <a:xfrm>
            <a:off x="189664" y="766763"/>
            <a:ext cx="381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[4]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6DD52-99D3-2A48-B543-A9EA23248659}"/>
              </a:ext>
            </a:extLst>
          </p:cNvPr>
          <p:cNvSpPr txBox="1"/>
          <p:nvPr/>
        </p:nvSpPr>
        <p:spPr>
          <a:xfrm>
            <a:off x="5723772" y="1012984"/>
            <a:ext cx="3324500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Essence of the algorithm: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Compute sets of equivalent</a:t>
            </a:r>
            <a:br>
              <a:rPr lang="en-US" sz="1400" dirty="0"/>
            </a:br>
            <a:r>
              <a:rPr lang="en-US" sz="1400" dirty="0"/>
              <a:t>atoms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Atoms are equivalent if the edit</a:t>
            </a:r>
            <a:br>
              <a:rPr lang="en-US" sz="1400" dirty="0"/>
            </a:br>
            <a:r>
              <a:rPr lang="en-US" sz="1400" dirty="0"/>
              <a:t>distance between them is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By substituting the equivalent</a:t>
            </a:r>
            <a:br>
              <a:rPr lang="en-US" sz="1400" dirty="0"/>
            </a:br>
            <a:r>
              <a:rPr lang="en-US" sz="1400" dirty="0"/>
              <a:t>words, compute all possible</a:t>
            </a:r>
            <a:br>
              <a:rPr lang="en-US" sz="1400" dirty="0"/>
            </a:br>
            <a:r>
              <a:rPr lang="en-US" sz="1400" dirty="0"/>
              <a:t>new goals (Compounds).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Filter out Compounds that are</a:t>
            </a:r>
            <a:br>
              <a:rPr lang="en-US" sz="1400" dirty="0"/>
            </a:br>
            <a:r>
              <a:rPr lang="en-US" sz="1400" dirty="0"/>
              <a:t>known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Return Imagined Compounds.</a:t>
            </a:r>
          </a:p>
        </p:txBody>
      </p:sp>
    </p:spTree>
    <p:extLst>
      <p:ext uri="{BB962C8B-B14F-4D97-AF65-F5344CB8AC3E}">
        <p14:creationId xmlns:p14="http://schemas.microsoft.com/office/powerpoint/2010/main" val="4106326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</a:t>
            </a:r>
            <a:r>
              <a:rPr lang="en-US" dirty="0" err="1"/>
              <a:t>achitectures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895350"/>
                <a:ext cx="8534400" cy="361890"/>
              </a:xfrm>
            </p:spPr>
            <p:txBody>
              <a:bodyPr/>
              <a:lstStyle/>
              <a:p>
                <a:r>
                  <a:rPr lang="en-US" sz="2000" dirty="0"/>
                  <a:t>Language encoder is an LSTM which maps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𝐶𝑜𝑚𝑝𝑜𝑢𝑛𝑑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endParaRPr lang="en-US" sz="2000" dirty="0"/>
              </a:p>
              <a:p>
                <a:r>
                  <a:rPr lang="en-US" sz="2000" dirty="0"/>
                  <a:t>Reward Function and actor-critic joint architectures. </a:t>
                </a:r>
                <a:endParaRPr lang="en-US" sz="1700" dirty="0"/>
              </a:p>
            </p:txBody>
          </p:sp>
        </mc:Choice>
        <mc:Fallback xmlns="">
          <p:sp>
            <p:nvSpPr>
              <p:cNvPr id="1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895350"/>
                <a:ext cx="8534400" cy="361890"/>
              </a:xfrm>
              <a:blipFill>
                <a:blip r:embed="rId3"/>
                <a:stretch>
                  <a:fillRect l="-594" t="-10345" b="-13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C48003-D90B-4677-A057-B663AA3C6CC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05F4D1-CE37-0042-82C2-73552A076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872" y="1795858"/>
            <a:ext cx="8686800" cy="31841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A3C5A1-95F5-764F-9C91-85E45C879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693" y="1969491"/>
            <a:ext cx="3429000" cy="428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317CAA-AAA2-834A-9A74-83F147D1D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95" y="1795858"/>
            <a:ext cx="3605059" cy="7758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2E3199-0E49-6349-8475-59421EE4E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4279185"/>
            <a:ext cx="3868283" cy="6547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561016-998B-BA4C-8D78-2CC51E53041A}"/>
              </a:ext>
            </a:extLst>
          </p:cNvPr>
          <p:cNvSpPr txBox="1"/>
          <p:nvPr/>
        </p:nvSpPr>
        <p:spPr>
          <a:xfrm>
            <a:off x="5019405" y="4701937"/>
            <a:ext cx="3818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217334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AMBLE" val="\documentclass{article}&#10;\pagestyle{empty}&#10;\usepackage{xspace,amssymb,amsfonts,amsmath}&#10;\usepackage{color}&#10;\usepackage{TeX4PPT}&#10;\usepackage{latexsym} &#10;\usepackage{amsfonts,amsmath}&#10;\usepackage{bm}&#10;%\usepackage{subfig}&#10;%\usepackage{color}&#10;&#10;\def\argmax{\mathop{\rm argmax}}&#10;\def\argmin{\mathop{\rm argmin}}&#10;\def\var{\mathop{\mathbb V}}&#10;\def\expectation{\mathop{\mathbb E}}&#10;\def\expectationNoOp{\mathbb E}&#10;\def\Real{\mathbb R}&#10;&#10;\newcommand{\bp}{\mathbf{p}}&#10;\newcommand{\br}{\mathbf{r}}&#10;\newcommand{\bx}{\mathbf{x}}&#10;\newcommand{\bJ}{\mathbf{J}}&#10;\newcommand{\bZero}{\mathbf{0}}&#10;\newcommand{\bk}{\mathbf{k}}&#10;\newcommand{\by}{\mathbf{y}}&#10;\newcommand{\diff}{\partial}&#10;\newcommand{\obs}{z}&#10;\newcommand{\model}{\mathcal{M}}"/>
  <p:tag name="MAGPC" val="300"/>
  <p:tag name="FONTSIZE" val="20"/>
  <p:tag name="DEFAULTFONTSIZE" val="10"/>
  <p:tag name="DEFAULTWIDTH" val="640"/>
  <p:tag name="DEFAULTHEIGHT" val="456"/>
</p:tagLst>
</file>

<file path=ppt/theme/theme1.xml><?xml version="1.0" encoding="utf-8"?>
<a:theme xmlns:a="http://schemas.openxmlformats.org/drawingml/2006/main" name="Kopie von ProbRobotics">
  <a:themeElements>
    <a:clrScheme name="Kopie von ProbRobotic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Kopie von ProbRobotics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chemeClr val="tx1"/>
          </a:solidFill>
          <a:round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folHlink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anchor="ctr">
        <a:spAutoFit/>
      </a:bodyPr>
      <a:lstStyle>
        <a:defPPr>
          <a:defRPr/>
        </a:defPPr>
      </a:lstStyle>
    </a:spDef>
    <a:lnDef>
      <a:spPr bwMode="auto">
        <a:noFill/>
        <a:ln w="50800" cap="flat" cmpd="sng" algn="ctr">
          <a:solidFill>
            <a:srgbClr val="800000"/>
          </a:solidFill>
          <a:prstDash val="solid"/>
          <a:miter lim="800000"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Kopie von ProbRobotic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pie von ProbRobotic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pie von ProbRobotic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pie von ProbRobotic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E:\doc\C\Dokumente und Einstellungen\Wolfram Burgard\Eigene Dateien\talks\ProbRobotics\Kopie von ProbRobotics.ppt</Template>
  <TotalTime>2482</TotalTime>
  <Words>3122</Words>
  <Application>Microsoft Macintosh PowerPoint</Application>
  <PresentationFormat>On-screen Show (16:9)</PresentationFormat>
  <Paragraphs>363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ＭＳ Ｐゴシック</vt:lpstr>
      <vt:lpstr>Arial</vt:lpstr>
      <vt:lpstr>Cambria Math</vt:lpstr>
      <vt:lpstr>Geneva</vt:lpstr>
      <vt:lpstr>Times New Roman</vt:lpstr>
      <vt:lpstr>Verdana</vt:lpstr>
      <vt:lpstr>Wingdings</vt:lpstr>
      <vt:lpstr>Kopie von ProbRobotics</vt:lpstr>
      <vt:lpstr>PowerPoint Presentation</vt:lpstr>
      <vt:lpstr>Inspiration and Motivation</vt:lpstr>
      <vt:lpstr>Inspiration and Motivation</vt:lpstr>
      <vt:lpstr>What is being solved</vt:lpstr>
      <vt:lpstr>Goal exploration (Previous work)</vt:lpstr>
      <vt:lpstr>Proposed agent architecture [4]</vt:lpstr>
      <vt:lpstr>Environment</vt:lpstr>
      <vt:lpstr>Environment</vt:lpstr>
      <vt:lpstr>Goal Generation Mechanism</vt:lpstr>
      <vt:lpstr>Goal Generation : “Curiosity” algorithm</vt:lpstr>
      <vt:lpstr>Language Encoder, Reward and Policy</vt:lpstr>
      <vt:lpstr>Proposed agent architecture [4]</vt:lpstr>
      <vt:lpstr>IMAGINE algorithm [4]</vt:lpstr>
      <vt:lpstr>Generalization (Goal generalization)</vt:lpstr>
      <vt:lpstr>Ablation studies</vt:lpstr>
      <vt:lpstr>Model improvement</vt:lpstr>
      <vt:lpstr>Limitations and Future works</vt:lpstr>
      <vt:lpstr>Thank you for your attention!</vt:lpstr>
      <vt:lpstr>Appendix</vt:lpstr>
      <vt:lpstr>Goal Generation : “Curiosity” algorithm</vt:lpstr>
      <vt:lpstr>Modular achitectures</vt:lpstr>
    </vt:vector>
  </TitlesOfParts>
  <Company>Universität Freiburg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Freiburg</dc:title>
  <dc:creator>Abhinav Valada</dc:creator>
  <cp:lastModifiedBy>Abdus Khazi</cp:lastModifiedBy>
  <cp:revision>3011</cp:revision>
  <cp:lastPrinted>2019-11-16T14:30:00Z</cp:lastPrinted>
  <dcterms:created xsi:type="dcterms:W3CDTF">2000-01-11T13:56:29Z</dcterms:created>
  <dcterms:modified xsi:type="dcterms:W3CDTF">2021-07-14T11:59:52Z</dcterms:modified>
</cp:coreProperties>
</file>