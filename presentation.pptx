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6" r:id="rId9"/>
    <p:sldId id="795" r:id="rId10"/>
    <p:sldId id="798" r:id="rId11"/>
    <p:sldId id="799" r:id="rId12"/>
    <p:sldId id="800" r:id="rId13"/>
    <p:sldId id="801" r:id="rId14"/>
    <p:sldId id="804" r:id="rId15"/>
    <p:sldId id="727" r:id="rId16"/>
    <p:sldId id="805" r:id="rId17"/>
    <p:sldId id="806" r:id="rId18"/>
    <p:sldId id="792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A0000"/>
    <a:srgbClr val="336699"/>
    <a:srgbClr val="99FFCC"/>
    <a:srgbClr val="CCFF99"/>
    <a:srgbClr val="FFFFFF"/>
    <a:srgbClr val="E8DD00"/>
    <a:srgbClr val="FFF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86" autoAdjust="0"/>
    <p:restoredTop sz="79407" autoAdjust="0"/>
  </p:normalViewPr>
  <p:slideViewPr>
    <p:cSldViewPr>
      <p:cViewPr varScale="1">
        <p:scale>
          <a:sx n="102" d="100"/>
          <a:sy n="102" d="100"/>
        </p:scale>
        <p:origin x="1272" y="1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7/13/21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 err="1"/>
              <a:t>Mouthful</a:t>
            </a:r>
            <a:r>
              <a:rPr lang="de-DE" dirty="0"/>
              <a:t> title,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have their skills engineered by engineering reward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They are inherently curiosity.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psychologist Vygotsky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Vygotsky, in his theory “Zone of proximal development”, a child requires some guidance to increase the zone of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scaffolding / guidance from some peer.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when the parent is the social peer.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</a:t>
            </a:r>
            <a:r>
              <a:rPr lang="en-US" dirty="0" err="1"/>
              <a:t>lanaguages</a:t>
            </a:r>
            <a:r>
              <a:rPr lang="en-US" dirty="0"/>
              <a:t>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dirty="0"/>
              <a:t>Another notable philosopher - </a:t>
            </a:r>
            <a:r>
              <a:rPr lang="de-DE" sz="1400" b="1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Mortimer J. Adler.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Considers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learning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by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aided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discovery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through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 </a:t>
            </a:r>
            <a:r>
              <a:rPr lang="de-DE" sz="1400" b="0" i="0" kern="1200" dirty="0" err="1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reading</a:t>
            </a:r>
            <a:r>
              <a:rPr lang="de-DE" sz="1400" b="0" i="0" kern="1200" dirty="0">
                <a:solidFill>
                  <a:schemeClr val="tx1"/>
                </a:solidFill>
                <a:effectLst/>
                <a:latin typeface="Verdana"/>
                <a:ea typeface="ＭＳ Ｐゴシック" charset="0"/>
                <a:cs typeface="Verdana"/>
              </a:rPr>
              <a:t>.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Traditionally in RL we give the goal by using the reward function.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r>
              <a:rPr lang="en-US" baseline="0" dirty="0"/>
              <a:t>One concept that is essential to understand is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space generalization. </a:t>
            </a:r>
            <a:r>
              <a:rPr lang="en-US" baseline="0" dirty="0">
                <a:sym typeface="Wingdings" pitchFamily="2" charset="2"/>
              </a:rPr>
              <a:t> This is a higher generalization.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  <a:endParaRPr lang="de-DE" sz="2000" dirty="0"/>
          </a:p>
          <a:p>
            <a:pPr lvl="0"/>
            <a:endParaRPr lang="en-US" baseline="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remain the same.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then</a:t>
            </a:r>
            <a:r>
              <a:rPr lang="de-DE" sz="1400" dirty="0"/>
              <a:t> </a:t>
            </a:r>
            <a:r>
              <a:rPr lang="de-DE" sz="1400" dirty="0" err="1"/>
              <a:t>hardcoded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representations</a:t>
            </a:r>
            <a:endParaRPr lang="en-US" b="0" baseline="0" dirty="0"/>
          </a:p>
          <a:p>
            <a:r>
              <a:rPr lang="en-US" b="0" baseline="0" dirty="0"/>
              <a:t>Only the abstraction of our application changes.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me explain some things we do understand.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r>
              <a:rPr lang="en-US" b="0" baseline="0" dirty="0"/>
              <a:t>For this we have to see the complete algorithm of Imagine architecture.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6893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/>
              <a:t>-One of the ways in which we might achieve a lot of</a:t>
            </a:r>
            <a:r>
              <a:rPr lang="en-US" baseline="0"/>
              <a:t> background knowledge about the world is</a:t>
            </a:r>
            <a:r>
              <a:rPr lang="en-US"/>
              <a:t> by self-supervised learning</a:t>
            </a:r>
            <a:r>
              <a:rPr lang="en-US" baseline="0"/>
              <a:t> through interaction or demonstrations</a:t>
            </a:r>
          </a:p>
          <a:p>
            <a:r>
              <a:rPr lang="en-US"/>
              <a:t>-Self-supervised learning</a:t>
            </a:r>
            <a:r>
              <a:rPr lang="en-US" baseline="0"/>
              <a:t> is a subset of unsupervised learning where the data itself provides the supervision</a:t>
            </a:r>
          </a:p>
          <a:p>
            <a:r>
              <a:rPr lang="en-US" baseline="0"/>
              <a:t>-As we want robots to learn to perform a wide range of tasks in diverse scenarios</a:t>
            </a:r>
          </a:p>
          <a:p>
            <a:r>
              <a:rPr lang="en-US" b="1" baseline="0"/>
              <a:t>-its not really practical to ask humans to label every aspect of every new scene and precisely label continuous dimensions either</a:t>
            </a:r>
          </a:p>
          <a:p>
            <a:r>
              <a:rPr lang="en-US" b="1" baseline="0"/>
              <a:t>-Instead, we want our models to discover and disentangle the abstract dimensions that matter without explicit supervision</a:t>
            </a:r>
          </a:p>
          <a:p>
            <a:r>
              <a:rPr lang="en-US" baseline="0"/>
              <a:t>-There are many signals in the world that we can exploit to self teach such as……</a:t>
            </a:r>
          </a:p>
          <a:p>
            <a:r>
              <a:rPr lang="en-US" baseline="0"/>
              <a:t>-And for continuous control, robots can learn a policy using a dynamics model or from reinforcing signals in a self-supervised manner by interacting with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/index.php?curid=20903046" TargetMode="External"/><Relationship Id="rId2" Type="http://schemas.openxmlformats.org/officeDocument/2006/relationships/hyperlink" Target="https://unsplash.com/s/photos/children-playing" TargetMode="Externa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commons.wikimedia.org/w/index.php?curid=304059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Inspiration - </a:t>
            </a:r>
            <a:r>
              <a:rPr lang="en-US" sz="2000" i="1" dirty="0"/>
              <a:t>Developmental machine learning</a:t>
            </a:r>
            <a:r>
              <a:rPr lang="en-U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child’s reward comes from accomplishing </a:t>
            </a:r>
            <a:r>
              <a:rPr lang="en-US" sz="2000" b="1" dirty="0"/>
              <a:t>novel</a:t>
            </a:r>
            <a:r>
              <a:rPr lang="en-US" sz="20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Inspiration from the work of Psychologist </a:t>
            </a:r>
            <a:r>
              <a:rPr lang="de-DE" sz="2000" dirty="0" err="1"/>
              <a:t>Vygotsky</a:t>
            </a:r>
            <a:r>
              <a:rPr lang="de-DE" sz="2000" dirty="0"/>
              <a:t>.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Scaffolded learning aided by a social </a:t>
            </a:r>
            <a:br>
              <a:rPr lang="en-US" sz="2000" dirty="0"/>
            </a:br>
            <a:r>
              <a:rPr lang="en-US" sz="20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Parent-Child learning dynamics is </a:t>
            </a:r>
            <a:br>
              <a:rPr lang="en-US" sz="2000" dirty="0"/>
            </a:br>
            <a:r>
              <a:rPr lang="en-US" sz="20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 – A building scaffolded for construction or repair]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523220"/>
          </a:xfrm>
        </p:spPr>
        <p:txBody>
          <a:bodyPr/>
          <a:lstStyle/>
          <a:p>
            <a:r>
              <a:rPr lang="en-US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20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2000" dirty="0"/>
              <a:t>2 </a:t>
            </a:r>
            <a:r>
              <a:rPr lang="de-DE" sz="2000" dirty="0" err="1"/>
              <a:t>types</a:t>
            </a:r>
            <a:r>
              <a:rPr lang="de-DE" sz="2000" dirty="0"/>
              <a:t> (</a:t>
            </a:r>
            <a:r>
              <a:rPr lang="de-DE" sz="2000" dirty="0" err="1"/>
              <a:t>levels</a:t>
            </a:r>
            <a:r>
              <a:rPr lang="de-DE" sz="2000" dirty="0"/>
              <a:t>)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generalization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 Multi </a:t>
            </a:r>
            <a:r>
              <a:rPr lang="de-DE" sz="2000" dirty="0" err="1"/>
              <a:t>Skilled</a:t>
            </a:r>
            <a:r>
              <a:rPr lang="de-DE" sz="2000" dirty="0"/>
              <a:t> </a:t>
            </a:r>
            <a:r>
              <a:rPr lang="de-DE" sz="2000" dirty="0" err="1"/>
              <a:t>agent</a:t>
            </a:r>
            <a:endParaRPr lang="de-DE" sz="2000" dirty="0"/>
          </a:p>
          <a:p>
            <a:pPr lvl="1"/>
            <a:r>
              <a:rPr lang="de-DE" sz="1400" dirty="0"/>
              <a:t>Goal-Space </a:t>
            </a:r>
            <a:r>
              <a:rPr lang="de-DE" sz="1400" dirty="0" err="1"/>
              <a:t>Generalization</a:t>
            </a:r>
            <a:r>
              <a:rPr lang="de-DE" sz="1400" dirty="0"/>
              <a:t>. (GS-G)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700" dirty="0" err="1"/>
              <a:t>Both</a:t>
            </a:r>
            <a:r>
              <a:rPr lang="de-DE" sz="1700" dirty="0"/>
              <a:t> </a:t>
            </a:r>
            <a:r>
              <a:rPr lang="de-DE" sz="1700" dirty="0" err="1"/>
              <a:t>require</a:t>
            </a:r>
            <a:r>
              <a:rPr lang="de-DE" sz="1700" dirty="0"/>
              <a:t> </a:t>
            </a:r>
            <a:r>
              <a:rPr lang="de-DE" sz="1700" dirty="0" err="1"/>
              <a:t>exploration</a:t>
            </a:r>
            <a:r>
              <a:rPr lang="de-DE" sz="1700" dirty="0"/>
              <a:t> in </a:t>
            </a:r>
            <a:r>
              <a:rPr lang="de-DE" sz="1700" dirty="0" err="1"/>
              <a:t>their</a:t>
            </a:r>
            <a:r>
              <a:rPr lang="de-DE" sz="1700" dirty="0"/>
              <a:t> </a:t>
            </a:r>
            <a:r>
              <a:rPr lang="de-DE" sz="1700" dirty="0" err="1"/>
              <a:t>respective</a:t>
            </a:r>
            <a:r>
              <a:rPr lang="de-DE" sz="1700" dirty="0"/>
              <a:t> </a:t>
            </a:r>
            <a:r>
              <a:rPr lang="de-DE" sz="1700" dirty="0" err="1"/>
              <a:t>spaces</a:t>
            </a:r>
            <a:r>
              <a:rPr lang="de-DE" sz="17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GS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523220"/>
          </a:xfrm>
        </p:spPr>
        <p:txBody>
          <a:bodyPr/>
          <a:lstStyle/>
          <a:p>
            <a:r>
              <a:rPr lang="en-US" dirty="0"/>
              <a:t>Goal exploration (Previous work)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2000" dirty="0"/>
              </a:p>
              <a:p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have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following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challenges</a:t>
                </a:r>
                <a:endParaRPr lang="de-DE" sz="2000" dirty="0"/>
              </a:p>
              <a:p>
                <a:pPr lvl="1"/>
                <a:r>
                  <a:rPr lang="de-DE" sz="1700" dirty="0" err="1"/>
                  <a:t>How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represent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these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for</a:t>
                </a:r>
                <a:r>
                  <a:rPr lang="de-DE" sz="1700" dirty="0"/>
                  <a:t> </a:t>
                </a:r>
                <a:r>
                  <a:rPr lang="de-DE" sz="1700" dirty="0" err="1"/>
                  <a:t>our</a:t>
                </a:r>
                <a:r>
                  <a:rPr lang="de-DE" sz="1700" dirty="0"/>
                  <a:t> RL </a:t>
                </a:r>
                <a:r>
                  <a:rPr lang="de-DE" sz="1700" dirty="0" err="1"/>
                  <a:t>problem</a:t>
                </a:r>
                <a:r>
                  <a:rPr lang="de-DE" sz="1700" dirty="0"/>
                  <a:t>?</a:t>
                </a:r>
              </a:p>
              <a:p>
                <a:pPr lvl="1"/>
                <a:r>
                  <a:rPr lang="de-DE" sz="1700" dirty="0" err="1"/>
                  <a:t>How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explore</a:t>
                </a:r>
                <a:r>
                  <a:rPr lang="de-DE" sz="1700" dirty="0"/>
                  <a:t> in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</a:t>
                </a:r>
                <a:r>
                  <a:rPr lang="de-DE" sz="1700" dirty="0"/>
                  <a:t> </a:t>
                </a:r>
                <a:r>
                  <a:rPr lang="de-DE" sz="1700" dirty="0" err="1"/>
                  <a:t>space</a:t>
                </a:r>
                <a:r>
                  <a:rPr lang="de-DE" sz="1700" dirty="0"/>
                  <a:t>?</a:t>
                </a:r>
              </a:p>
              <a:p>
                <a:r>
                  <a:rPr lang="de-DE" sz="2000" dirty="0" err="1"/>
                  <a:t>Previous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works</a:t>
                </a:r>
                <a:endParaRPr lang="de-DE" sz="2000" dirty="0"/>
              </a:p>
              <a:p>
                <a:pPr lvl="1"/>
                <a:r>
                  <a:rPr lang="de-DE" sz="1700" dirty="0" err="1"/>
                  <a:t>Represented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as</a:t>
                </a:r>
                <a:r>
                  <a:rPr lang="de-DE" sz="1700" dirty="0"/>
                  <a:t>: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700" dirty="0"/>
              </a:p>
              <a:p>
                <a:pPr lvl="1"/>
                <a:r>
                  <a:rPr lang="de-DE" sz="1700" dirty="0"/>
                  <a:t>A </a:t>
                </a:r>
                <a:r>
                  <a:rPr lang="de-DE" sz="1700" dirty="0" err="1"/>
                  <a:t>set</a:t>
                </a:r>
                <a:r>
                  <a:rPr lang="de-DE" sz="1700" dirty="0"/>
                  <a:t> </a:t>
                </a:r>
                <a:r>
                  <a:rPr lang="de-DE" sz="1700" dirty="0" err="1"/>
                  <a:t>of</a:t>
                </a:r>
                <a:r>
                  <a:rPr lang="de-DE" sz="1700" dirty="0"/>
                  <a:t> </a:t>
                </a:r>
                <a:r>
                  <a:rPr lang="de-DE" sz="1700" dirty="0" err="1"/>
                  <a:t>known</a:t>
                </a:r>
                <a:r>
                  <a:rPr lang="de-DE" sz="17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700" dirty="0"/>
                  <a:t>, </a:t>
                </a:r>
                <a:r>
                  <a:rPr lang="de-DE" sz="1700" dirty="0" err="1"/>
                  <a:t>were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train</a:t>
                </a:r>
                <a:r>
                  <a:rPr lang="de-DE" sz="1700" dirty="0"/>
                  <a:t> </a:t>
                </a:r>
                <a:r>
                  <a:rPr lang="de-DE" sz="1700" b="1" i="1" dirty="0"/>
                  <a:t>Goal Generators </a:t>
                </a:r>
                <a:r>
                  <a:rPr lang="de-DE" sz="1700" dirty="0" err="1"/>
                  <a:t>using</a:t>
                </a:r>
                <a:r>
                  <a:rPr lang="de-DE" sz="1700" dirty="0"/>
                  <a:t> </a:t>
                </a:r>
                <a:r>
                  <a:rPr lang="de-DE" sz="1700" i="1" dirty="0"/>
                  <a:t>GANs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and</a:t>
                </a:r>
                <a:r>
                  <a:rPr lang="de-DE" sz="1700" dirty="0"/>
                  <a:t> </a:t>
                </a:r>
                <a:r>
                  <a:rPr lang="de-DE" sz="1700" i="1" dirty="0" err="1"/>
                  <a:t>Variational</a:t>
                </a:r>
                <a:r>
                  <a:rPr lang="de-DE" sz="1700" i="1" dirty="0"/>
                  <a:t> Auto-Encoders</a:t>
                </a:r>
                <a:r>
                  <a:rPr lang="de-DE" sz="1700" dirty="0"/>
                  <a:t>.</a:t>
                </a:r>
              </a:p>
              <a:p>
                <a:pPr lvl="1"/>
                <a:r>
                  <a:rPr lang="de-DE" sz="1700" dirty="0" err="1"/>
                  <a:t>To</a:t>
                </a:r>
                <a:r>
                  <a:rPr lang="de-DE" sz="1700" dirty="0"/>
                  <a:t> </a:t>
                </a:r>
                <a:r>
                  <a:rPr lang="de-DE" sz="1700" dirty="0" err="1"/>
                  <a:t>explore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</a:t>
                </a:r>
                <a:r>
                  <a:rPr lang="de-DE" sz="1700" dirty="0"/>
                  <a:t> Goal Space - </a:t>
                </a:r>
                <a:r>
                  <a:rPr lang="de-DE" sz="1700" dirty="0" err="1"/>
                  <a:t>Generated</a:t>
                </a:r>
                <a:r>
                  <a:rPr lang="de-DE" sz="1700" dirty="0"/>
                  <a:t> </a:t>
                </a:r>
                <a:r>
                  <a:rPr lang="de-DE" sz="1700" dirty="0" err="1"/>
                  <a:t>goals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using</a:t>
                </a:r>
                <a:r>
                  <a:rPr lang="de-DE" sz="1700" dirty="0"/>
                  <a:t> </a:t>
                </a:r>
                <a:r>
                  <a:rPr lang="de-DE" sz="1700" dirty="0" err="1"/>
                  <a:t>these</a:t>
                </a:r>
                <a:r>
                  <a:rPr lang="de-DE" sz="1700" dirty="0"/>
                  <a:t> </a:t>
                </a:r>
                <a:r>
                  <a:rPr lang="de-DE" sz="1700" i="1" dirty="0"/>
                  <a:t>Goal Generators</a:t>
                </a:r>
                <a:r>
                  <a:rPr lang="de-DE" sz="1700" dirty="0"/>
                  <a:t> </a:t>
                </a:r>
                <a:r>
                  <a:rPr lang="de-DE" sz="1700" dirty="0" err="1"/>
                  <a:t>were</a:t>
                </a:r>
                <a:r>
                  <a:rPr lang="de-DE" sz="1700" dirty="0"/>
                  <a:t> </a:t>
                </a:r>
                <a:r>
                  <a:rPr lang="de-DE" sz="1700" dirty="0" err="1"/>
                  <a:t>used</a:t>
                </a:r>
                <a:r>
                  <a:rPr lang="de-DE" sz="1700" dirty="0"/>
                  <a:t>.</a:t>
                </a:r>
              </a:p>
              <a:p>
                <a:r>
                  <a:rPr lang="de-DE" sz="2000" dirty="0"/>
                  <a:t>Limitation - The </a:t>
                </a:r>
                <a:r>
                  <a:rPr lang="de-DE" sz="2000" dirty="0" err="1"/>
                  <a:t>generalization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possible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within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known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distribution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goal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space</a:t>
                </a:r>
                <a:r>
                  <a:rPr lang="de-DE" sz="2000" dirty="0"/>
                  <a:t>.</a:t>
                </a:r>
                <a:endParaRPr lang="en-US" sz="2000" dirty="0"/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594" b="-9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2000" dirty="0"/>
              <a:t>The </a:t>
            </a:r>
            <a:r>
              <a:rPr lang="de-DE" sz="2000" dirty="0" err="1"/>
              <a:t>authors</a:t>
            </a:r>
            <a:r>
              <a:rPr lang="de-DE" sz="2000" dirty="0"/>
              <a:t> do not </a:t>
            </a:r>
            <a:r>
              <a:rPr lang="de-DE" sz="2000" dirty="0" err="1"/>
              <a:t>train</a:t>
            </a:r>
            <a:r>
              <a:rPr lang="de-DE" sz="2000" dirty="0"/>
              <a:t> a </a:t>
            </a:r>
            <a:r>
              <a:rPr lang="de-DE" sz="2000" dirty="0" err="1"/>
              <a:t>full</a:t>
            </a:r>
            <a:r>
              <a:rPr lang="de-DE" sz="2000" dirty="0"/>
              <a:t> </a:t>
            </a:r>
            <a:r>
              <a:rPr lang="de-DE" sz="2000" dirty="0" err="1"/>
              <a:t>blown</a:t>
            </a:r>
            <a:r>
              <a:rPr lang="de-DE" sz="2000" dirty="0"/>
              <a:t> Natural Language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Perception</a:t>
            </a:r>
            <a:r>
              <a:rPr lang="de-DE" sz="2000" dirty="0"/>
              <a:t> </a:t>
            </a:r>
            <a:r>
              <a:rPr lang="de-DE" sz="2000" dirty="0" err="1"/>
              <a:t>agent</a:t>
            </a:r>
            <a:r>
              <a:rPr lang="de-DE" sz="2000" dirty="0"/>
              <a:t>.</a:t>
            </a:r>
          </a:p>
          <a:p>
            <a:r>
              <a:rPr lang="de-DE" sz="2000" dirty="0" err="1"/>
              <a:t>They</a:t>
            </a:r>
            <a:r>
              <a:rPr lang="de-DE" sz="2000" dirty="0"/>
              <a:t> </a:t>
            </a:r>
            <a:r>
              <a:rPr lang="de-DE" sz="2000" dirty="0" err="1"/>
              <a:t>use</a:t>
            </a:r>
            <a:r>
              <a:rPr lang="de-DE" sz="2000" dirty="0"/>
              <a:t> a </a:t>
            </a:r>
            <a:r>
              <a:rPr lang="de-DE" sz="2000" dirty="0" err="1"/>
              <a:t>specialized</a:t>
            </a:r>
            <a:r>
              <a:rPr lang="de-DE" sz="2000" dirty="0"/>
              <a:t> </a:t>
            </a:r>
            <a:r>
              <a:rPr lang="de-DE" sz="2000" dirty="0" err="1"/>
              <a:t>environment</a:t>
            </a:r>
            <a:r>
              <a:rPr lang="de-DE" sz="2000" dirty="0"/>
              <a:t> </a:t>
            </a:r>
            <a:r>
              <a:rPr lang="de-DE" sz="2000" dirty="0" err="1"/>
              <a:t>called</a:t>
            </a:r>
            <a:r>
              <a:rPr lang="de-DE" sz="2000" dirty="0"/>
              <a:t> </a:t>
            </a:r>
            <a:r>
              <a:rPr lang="de-DE" sz="2000" b="1" dirty="0" err="1"/>
              <a:t>Playground</a:t>
            </a:r>
            <a:r>
              <a:rPr lang="de-DE" sz="2000" dirty="0"/>
              <a:t>.</a:t>
            </a:r>
          </a:p>
          <a:p>
            <a:r>
              <a:rPr lang="de-DE" sz="2000" b="1" dirty="0" err="1"/>
              <a:t>Playground</a:t>
            </a:r>
            <a:r>
              <a:rPr lang="de-DE" sz="2000" dirty="0"/>
              <a:t> </a:t>
            </a:r>
            <a:r>
              <a:rPr lang="de-DE" sz="2000" dirty="0" err="1"/>
              <a:t>can</a:t>
            </a:r>
            <a:r>
              <a:rPr lang="de-DE" sz="2000" dirty="0"/>
              <a:t> </a:t>
            </a:r>
            <a:r>
              <a:rPr lang="de-DE" sz="2000" dirty="0" err="1"/>
              <a:t>be</a:t>
            </a:r>
            <a:r>
              <a:rPr lang="de-DE" sz="2000" dirty="0"/>
              <a:t> </a:t>
            </a:r>
            <a:r>
              <a:rPr lang="de-DE" sz="2000" dirty="0" err="1"/>
              <a:t>understood</a:t>
            </a:r>
            <a:r>
              <a:rPr lang="de-DE" sz="2000" dirty="0"/>
              <a:t> </a:t>
            </a:r>
            <a:r>
              <a:rPr lang="de-DE" sz="2000" dirty="0" err="1"/>
              <a:t>as</a:t>
            </a:r>
            <a:r>
              <a:rPr lang="de-DE" sz="2000" dirty="0"/>
              <a:t> </a:t>
            </a:r>
            <a:r>
              <a:rPr lang="de-DE" sz="2000" b="1" dirty="0"/>
              <a:t>a </a:t>
            </a:r>
            <a:r>
              <a:rPr lang="de-DE" sz="2000" b="1" dirty="0" err="1"/>
              <a:t>little</a:t>
            </a:r>
            <a:r>
              <a:rPr lang="de-DE" sz="2000" b="1" dirty="0"/>
              <a:t> </a:t>
            </a:r>
            <a:r>
              <a:rPr lang="de-DE" sz="2000" b="1" dirty="0" err="1"/>
              <a:t>farm</a:t>
            </a:r>
            <a:r>
              <a:rPr lang="de-DE" sz="2000" dirty="0"/>
              <a:t>.</a:t>
            </a:r>
          </a:p>
          <a:p>
            <a:pPr marL="0" indent="0">
              <a:buNone/>
            </a:pPr>
            <a:endParaRPr lang="de-DE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20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de-DE" sz="2000" dirty="0"/>
                  <a:t>For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quantification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b="1" dirty="0" err="1"/>
                  <a:t>Grow</a:t>
                </a:r>
                <a:r>
                  <a:rPr lang="de-DE" sz="2000" dirty="0"/>
                  <a:t>.</a:t>
                </a:r>
              </a:p>
              <a:p>
                <a:r>
                  <a:rPr lang="de-DE" sz="2000" dirty="0" err="1"/>
                  <a:t>Where</a:t>
                </a:r>
                <a:endParaRPr lang="de-DE" sz="2000" dirty="0"/>
              </a:p>
              <a:p>
                <a:pPr lvl="1"/>
                <a:r>
                  <a:rPr lang="de-DE" sz="17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 err="1"/>
                  <a:t>is</a:t>
                </a:r>
                <a:r>
                  <a:rPr lang="de-DE" sz="1700" dirty="0"/>
                  <a:t> Diameter </a:t>
                </a:r>
                <a:r>
                  <a:rPr lang="de-DE" sz="1700" dirty="0" err="1"/>
                  <a:t>and</a:t>
                </a:r>
                <a:r>
                  <a:rPr lang="de-DE" sz="1700" dirty="0"/>
                  <a:t> [x, </a:t>
                </a:r>
                <a:r>
                  <a:rPr lang="de-DE" sz="1700" dirty="0" err="1"/>
                  <a:t>y</a:t>
                </a:r>
                <a:r>
                  <a:rPr lang="de-DE" sz="17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Position</a:t>
                </a:r>
              </a:p>
              <a:p>
                <a:pPr lvl="1"/>
                <a:r>
                  <a:rPr lang="de-DE" sz="1700" dirty="0" err="1"/>
                  <a:t>g</a:t>
                </a:r>
                <a:r>
                  <a:rPr lang="de-DE" sz="17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</a:t>
                </a:r>
                <a:r>
                  <a:rPr lang="de-DE" sz="1700" dirty="0" err="1"/>
                  <a:t>Gripper</a:t>
                </a:r>
                <a:r>
                  <a:rPr lang="de-DE" sz="1700" dirty="0"/>
                  <a:t> Status</a:t>
                </a:r>
              </a:p>
              <a:p>
                <a:pPr lvl="1"/>
                <a:r>
                  <a:rPr lang="de-DE" sz="1700" dirty="0"/>
                  <a:t>[</a:t>
                </a:r>
                <a:r>
                  <a:rPr lang="de-DE" sz="1700" dirty="0" err="1"/>
                  <a:t>r,g,b</a:t>
                </a:r>
                <a:r>
                  <a:rPr lang="de-DE" sz="17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700" dirty="0"/>
                  <a:t>is Color </a:t>
                </a:r>
              </a:p>
              <a:p>
                <a:endParaRPr lang="de-DE" sz="2000" dirty="0"/>
              </a:p>
              <a:p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r="-297" b="-9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</a:t>
            </a:r>
          </a:p>
          <a:p>
            <a:pPr lvl="1"/>
            <a:r>
              <a:rPr lang="en-US" sz="2000" dirty="0"/>
              <a:t>Each word is called an atom</a:t>
            </a:r>
          </a:p>
          <a:p>
            <a:pPr lvl="1"/>
            <a:r>
              <a:rPr lang="en-US" sz="2000" dirty="0"/>
              <a:t>Each sentence is called a compound</a:t>
            </a:r>
          </a:p>
          <a:p>
            <a:pPr lvl="1"/>
            <a:r>
              <a:rPr lang="en-US" sz="2000" dirty="0"/>
              <a:t>Each compound created is a goal.</a:t>
            </a:r>
          </a:p>
          <a:p>
            <a:r>
              <a:rPr lang="en-US" sz="2000" dirty="0"/>
              <a:t>The Agent uses an LSTM called a language encoder to encode the compound to a goal.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130610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523220"/>
          </a:xfrm>
        </p:spPr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dirty="0"/>
              <a:t>Essence of the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dirty="0"/>
              <a:t>Compute sets of equivalent</a:t>
            </a:r>
            <a:br>
              <a:rPr lang="en-US" dirty="0"/>
            </a:br>
            <a:r>
              <a:rPr lang="en-US" dirty="0"/>
              <a:t>atoms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dirty="0"/>
              <a:t>Atoms are equivalent if the edit</a:t>
            </a:r>
            <a:br>
              <a:rPr lang="en-US" dirty="0"/>
            </a:br>
            <a:r>
              <a:rPr lang="en-US" dirty="0"/>
              <a:t>distance between them is 1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dirty="0"/>
              <a:t>By substituting the equivalent</a:t>
            </a:r>
            <a:br>
              <a:rPr lang="en-US" dirty="0"/>
            </a:br>
            <a:r>
              <a:rPr lang="en-US" dirty="0"/>
              <a:t>words, compute all possible</a:t>
            </a:r>
            <a:br>
              <a:rPr lang="en-US" dirty="0"/>
            </a:br>
            <a:r>
              <a:rPr lang="en-US" dirty="0"/>
              <a:t>new goals (Compounds).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dirty="0"/>
              <a:t>Filter out Compounds that are</a:t>
            </a:r>
            <a:br>
              <a:rPr lang="en-US" dirty="0"/>
            </a:br>
            <a:r>
              <a:rPr lang="en-US" dirty="0"/>
              <a:t>known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523220"/>
          </a:xfrm>
        </p:spPr>
        <p:txBody>
          <a:bodyPr/>
          <a:lstStyle/>
          <a:p>
            <a:r>
              <a:rPr lang="en-US" dirty="0"/>
              <a:t>IMAGINE algorithm [4]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&amp; 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 exploration strategy</a:t>
            </a:r>
          </a:p>
          <a:p>
            <a:pPr lvl="1"/>
            <a:r>
              <a:rPr lang="en-US" sz="1700" dirty="0"/>
              <a:t>Based on Language (Construction Grammar).</a:t>
            </a:r>
          </a:p>
          <a:p>
            <a:pPr lvl="1"/>
            <a:r>
              <a:rPr lang="en-US" sz="1700" dirty="0"/>
              <a:t>Language’s combinatorial compositionality is used to their advantage.</a:t>
            </a:r>
          </a:p>
          <a:p>
            <a:pPr lvl="1"/>
            <a:r>
              <a:rPr lang="en-US" sz="1700" dirty="0"/>
              <a:t>They can generalize to Goals that are out of the known-distribution.</a:t>
            </a:r>
          </a:p>
          <a:p>
            <a:r>
              <a:rPr lang="en-US" sz="2000" dirty="0"/>
              <a:t>The work in this paper is orthogonal to previous research.</a:t>
            </a:r>
          </a:p>
          <a:p>
            <a:pPr lvl="1"/>
            <a:r>
              <a:rPr lang="en-US" sz="1700" dirty="0"/>
              <a:t>Representation of Goals is learnt</a:t>
            </a:r>
          </a:p>
          <a:p>
            <a:pPr lvl="1"/>
            <a:r>
              <a:rPr lang="en-US" sz="1700" dirty="0"/>
              <a:t>Reward function is learnt</a:t>
            </a:r>
          </a:p>
          <a:p>
            <a:pPr lvl="1"/>
            <a:r>
              <a:rPr lang="en-US" sz="1700" dirty="0"/>
              <a:t>Policy, Q-function approximation is also learnt.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038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Ablation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improvement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61950"/>
            <a:ext cx="8534400" cy="523220"/>
          </a:xfrm>
        </p:spPr>
        <p:txBody>
          <a:bodyPr/>
          <a:lstStyle/>
          <a:p>
            <a:r>
              <a:rPr lang="en-US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400" kern="0" dirty="0"/>
              <a:t>References:</a:t>
            </a:r>
          </a:p>
          <a:p>
            <a:pPr marL="0" indent="0">
              <a:buNone/>
            </a:pPr>
            <a:r>
              <a:rPr lang="en-US" sz="1400" dirty="0"/>
              <a:t>[1] - </a:t>
            </a:r>
            <a:r>
              <a:rPr lang="en-US" sz="1400" dirty="0">
                <a:hlinkClick r:id="rId2"/>
              </a:rPr>
              <a:t>https://unsplash.com/s/photos/children-playing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[2] - By </a:t>
            </a:r>
            <a:r>
              <a:rPr lang="en-US" sz="1400" dirty="0" err="1"/>
              <a:t>Dcoetzee</a:t>
            </a:r>
            <a:r>
              <a:rPr lang="en-US" sz="1400" dirty="0"/>
              <a:t> - Own work, CC0, </a:t>
            </a:r>
            <a:r>
              <a:rPr lang="en-US" sz="1400" dirty="0">
                <a:hlinkClick r:id="rId3"/>
              </a:rPr>
              <a:t>https://commons.wikimedia.org/w/index.php?curid=20903046</a:t>
            </a:r>
            <a:endParaRPr lang="en-US" sz="1400" dirty="0"/>
          </a:p>
          <a:p>
            <a:pPr marL="0" indent="0">
              <a:buNone/>
            </a:pPr>
            <a:r>
              <a:rPr lang="en-US" sz="1400" kern="0" dirty="0"/>
              <a:t>[3] - By </a:t>
            </a:r>
            <a:r>
              <a:rPr lang="en-US" sz="1400" kern="0" dirty="0" err="1"/>
              <a:t>Tysto</a:t>
            </a:r>
            <a:r>
              <a:rPr lang="en-US" sz="1400" kern="0" dirty="0"/>
              <a:t> - Own work, Public Domain, </a:t>
            </a:r>
            <a:r>
              <a:rPr lang="en-US" sz="1400" kern="0" dirty="0">
                <a:hlinkClick r:id="rId4"/>
              </a:rPr>
              <a:t>https://commons.wikimedia.org/w/index.php?curid=304059</a:t>
            </a:r>
            <a:endParaRPr lang="en-US" sz="1400" kern="0" dirty="0"/>
          </a:p>
          <a:p>
            <a:pPr marL="0" indent="0">
              <a:buNone/>
            </a:pPr>
            <a:r>
              <a:rPr lang="en-US" sz="1400" kern="0" dirty="0"/>
              <a:t>[4] – The research paper</a:t>
            </a:r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2080</TotalTime>
  <Words>1803</Words>
  <Application>Microsoft Macintosh PowerPoint</Application>
  <PresentationFormat>On-screen Show (16:9)</PresentationFormat>
  <Paragraphs>254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Environment</vt:lpstr>
      <vt:lpstr>Goal Generation</vt:lpstr>
      <vt:lpstr>Goal Generation : “Curiosity” algorithm</vt:lpstr>
      <vt:lpstr>Proposed agent architecture [4]</vt:lpstr>
      <vt:lpstr>IMAGINE algorithm [4]</vt:lpstr>
      <vt:lpstr>Goal Generation &amp; Environment</vt:lpstr>
      <vt:lpstr>Generalization</vt:lpstr>
      <vt:lpstr>Ablation studies</vt:lpstr>
      <vt:lpstr>Model improvement</vt:lpstr>
      <vt:lpstr>Future works</vt:lpstr>
      <vt:lpstr>Thank you for your attention!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2939</cp:revision>
  <cp:lastPrinted>2019-11-16T14:30:00Z</cp:lastPrinted>
  <dcterms:created xsi:type="dcterms:W3CDTF">2000-01-11T13:56:29Z</dcterms:created>
  <dcterms:modified xsi:type="dcterms:W3CDTF">2021-07-13T07:32:18Z</dcterms:modified>
</cp:coreProperties>
</file>